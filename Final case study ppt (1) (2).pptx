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78" r:id="rId3"/>
    <p:sldId id="273" r:id="rId4"/>
    <p:sldId id="261" r:id="rId5"/>
    <p:sldId id="264" r:id="rId6"/>
    <p:sldId id="280" r:id="rId7"/>
    <p:sldId id="281" r:id="rId8"/>
    <p:sldId id="267" r:id="rId9"/>
    <p:sldId id="269" r:id="rId10"/>
    <p:sldId id="268" r:id="rId11"/>
    <p:sldId id="266" r:id="rId12"/>
    <p:sldId id="279" r:id="rId13"/>
    <p:sldId id="27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928" autoAdjust="0"/>
    <p:restoredTop sz="94660"/>
  </p:normalViewPr>
  <p:slideViewPr>
    <p:cSldViewPr snapToGrid="0">
      <p:cViewPr varScale="1">
        <p:scale>
          <a:sx n="71" d="100"/>
          <a:sy n="71" d="100"/>
        </p:scale>
        <p:origin x="422" y="2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2A5F6-2770-9694-72B1-620E2DE591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523B48-92A7-115C-9C4C-CB26C2D559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6832F65-D8A7-3033-DF17-A7077034BA6B}"/>
              </a:ext>
            </a:extLst>
          </p:cNvPr>
          <p:cNvSpPr>
            <a:spLocks noGrp="1"/>
          </p:cNvSpPr>
          <p:nvPr>
            <p:ph type="dt" sz="half" idx="10"/>
          </p:nvPr>
        </p:nvSpPr>
        <p:spPr/>
        <p:txBody>
          <a:bodyPr/>
          <a:lstStyle/>
          <a:p>
            <a:fld id="{5B76B3D4-05E2-43FD-8612-DF95AD9F4CCC}" type="datetimeFigureOut">
              <a:rPr lang="en-IN" smtClean="0"/>
              <a:t>22-06-2025</a:t>
            </a:fld>
            <a:endParaRPr lang="en-IN"/>
          </a:p>
        </p:txBody>
      </p:sp>
      <p:sp>
        <p:nvSpPr>
          <p:cNvPr id="5" name="Footer Placeholder 4">
            <a:extLst>
              <a:ext uri="{FF2B5EF4-FFF2-40B4-BE49-F238E27FC236}">
                <a16:creationId xmlns:a16="http://schemas.microsoft.com/office/drawing/2014/main" id="{622128A4-BAB6-033F-5191-6998DFE2FB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FA2206-1EB8-A486-97C6-07392C33ACFE}"/>
              </a:ext>
            </a:extLst>
          </p:cNvPr>
          <p:cNvSpPr>
            <a:spLocks noGrp="1"/>
          </p:cNvSpPr>
          <p:nvPr>
            <p:ph type="sldNum" sz="quarter" idx="12"/>
          </p:nvPr>
        </p:nvSpPr>
        <p:spPr/>
        <p:txBody>
          <a:bodyPr/>
          <a:lstStyle/>
          <a:p>
            <a:fld id="{B700889B-37EA-4E34-91C3-3ABA5A44C1F7}" type="slidenum">
              <a:rPr lang="en-IN" smtClean="0"/>
              <a:t>‹#›</a:t>
            </a:fld>
            <a:endParaRPr lang="en-IN"/>
          </a:p>
        </p:txBody>
      </p:sp>
    </p:spTree>
    <p:extLst>
      <p:ext uri="{BB962C8B-B14F-4D97-AF65-F5344CB8AC3E}">
        <p14:creationId xmlns:p14="http://schemas.microsoft.com/office/powerpoint/2010/main" val="1479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6328C-2A30-F090-3BE8-66FF0E7D40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849691-6E38-991A-A00A-139F4E843B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D55263-5BAF-0711-AB59-02038088A5A5}"/>
              </a:ext>
            </a:extLst>
          </p:cNvPr>
          <p:cNvSpPr>
            <a:spLocks noGrp="1"/>
          </p:cNvSpPr>
          <p:nvPr>
            <p:ph type="dt" sz="half" idx="10"/>
          </p:nvPr>
        </p:nvSpPr>
        <p:spPr/>
        <p:txBody>
          <a:bodyPr/>
          <a:lstStyle/>
          <a:p>
            <a:fld id="{5B76B3D4-05E2-43FD-8612-DF95AD9F4CCC}" type="datetimeFigureOut">
              <a:rPr lang="en-IN" smtClean="0"/>
              <a:t>22-06-2025</a:t>
            </a:fld>
            <a:endParaRPr lang="en-IN"/>
          </a:p>
        </p:txBody>
      </p:sp>
      <p:sp>
        <p:nvSpPr>
          <p:cNvPr id="5" name="Footer Placeholder 4">
            <a:extLst>
              <a:ext uri="{FF2B5EF4-FFF2-40B4-BE49-F238E27FC236}">
                <a16:creationId xmlns:a16="http://schemas.microsoft.com/office/drawing/2014/main" id="{469DFB12-D085-32E0-A808-52CE08C1B0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3B1FC1-495E-6A63-3B83-5D0173910813}"/>
              </a:ext>
            </a:extLst>
          </p:cNvPr>
          <p:cNvSpPr>
            <a:spLocks noGrp="1"/>
          </p:cNvSpPr>
          <p:nvPr>
            <p:ph type="sldNum" sz="quarter" idx="12"/>
          </p:nvPr>
        </p:nvSpPr>
        <p:spPr/>
        <p:txBody>
          <a:bodyPr/>
          <a:lstStyle/>
          <a:p>
            <a:fld id="{B700889B-37EA-4E34-91C3-3ABA5A44C1F7}" type="slidenum">
              <a:rPr lang="en-IN" smtClean="0"/>
              <a:t>‹#›</a:t>
            </a:fld>
            <a:endParaRPr lang="en-IN"/>
          </a:p>
        </p:txBody>
      </p:sp>
    </p:spTree>
    <p:extLst>
      <p:ext uri="{BB962C8B-B14F-4D97-AF65-F5344CB8AC3E}">
        <p14:creationId xmlns:p14="http://schemas.microsoft.com/office/powerpoint/2010/main" val="1736123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9F6C0-030C-8F1D-22EF-77E6BE0AFA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CD4AE6A-EEB1-BB23-0594-C4E62FD052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B27688-2258-AE20-029E-415B4C1C5AAE}"/>
              </a:ext>
            </a:extLst>
          </p:cNvPr>
          <p:cNvSpPr>
            <a:spLocks noGrp="1"/>
          </p:cNvSpPr>
          <p:nvPr>
            <p:ph type="dt" sz="half" idx="10"/>
          </p:nvPr>
        </p:nvSpPr>
        <p:spPr/>
        <p:txBody>
          <a:bodyPr/>
          <a:lstStyle/>
          <a:p>
            <a:fld id="{5B76B3D4-05E2-43FD-8612-DF95AD9F4CCC}" type="datetimeFigureOut">
              <a:rPr lang="en-IN" smtClean="0"/>
              <a:t>22-06-2025</a:t>
            </a:fld>
            <a:endParaRPr lang="en-IN"/>
          </a:p>
        </p:txBody>
      </p:sp>
      <p:sp>
        <p:nvSpPr>
          <p:cNvPr id="5" name="Footer Placeholder 4">
            <a:extLst>
              <a:ext uri="{FF2B5EF4-FFF2-40B4-BE49-F238E27FC236}">
                <a16:creationId xmlns:a16="http://schemas.microsoft.com/office/drawing/2014/main" id="{662431C8-130E-1C31-FF7C-90B034336A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1CB17E-4757-85D0-9F68-1477FE919F11}"/>
              </a:ext>
            </a:extLst>
          </p:cNvPr>
          <p:cNvSpPr>
            <a:spLocks noGrp="1"/>
          </p:cNvSpPr>
          <p:nvPr>
            <p:ph type="sldNum" sz="quarter" idx="12"/>
          </p:nvPr>
        </p:nvSpPr>
        <p:spPr/>
        <p:txBody>
          <a:bodyPr/>
          <a:lstStyle/>
          <a:p>
            <a:fld id="{B700889B-37EA-4E34-91C3-3ABA5A44C1F7}" type="slidenum">
              <a:rPr lang="en-IN" smtClean="0"/>
              <a:t>‹#›</a:t>
            </a:fld>
            <a:endParaRPr lang="en-IN"/>
          </a:p>
        </p:txBody>
      </p:sp>
    </p:spTree>
    <p:extLst>
      <p:ext uri="{BB962C8B-B14F-4D97-AF65-F5344CB8AC3E}">
        <p14:creationId xmlns:p14="http://schemas.microsoft.com/office/powerpoint/2010/main" val="2616945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21D3F-32C4-1754-7E57-91657323BE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E7608E4-7D78-D187-B93E-ABE59E2980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EBAAFCF-949E-C3ED-B301-D9BCC08778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8F6A14B-242D-2DED-FECF-361EAF5869BB}"/>
              </a:ext>
            </a:extLst>
          </p:cNvPr>
          <p:cNvSpPr>
            <a:spLocks noGrp="1"/>
          </p:cNvSpPr>
          <p:nvPr>
            <p:ph type="dt" sz="half" idx="10"/>
          </p:nvPr>
        </p:nvSpPr>
        <p:spPr/>
        <p:txBody>
          <a:bodyPr/>
          <a:lstStyle/>
          <a:p>
            <a:fld id="{5B76B3D4-05E2-43FD-8612-DF95AD9F4CCC}" type="datetimeFigureOut">
              <a:rPr lang="en-IN" smtClean="0"/>
              <a:t>22-06-2025</a:t>
            </a:fld>
            <a:endParaRPr lang="en-IN"/>
          </a:p>
        </p:txBody>
      </p:sp>
      <p:sp>
        <p:nvSpPr>
          <p:cNvPr id="6" name="Footer Placeholder 5">
            <a:extLst>
              <a:ext uri="{FF2B5EF4-FFF2-40B4-BE49-F238E27FC236}">
                <a16:creationId xmlns:a16="http://schemas.microsoft.com/office/drawing/2014/main" id="{A89887F8-F943-9717-119D-1DBAE0798C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7A8496-E6B8-61E5-067D-242656F58349}"/>
              </a:ext>
            </a:extLst>
          </p:cNvPr>
          <p:cNvSpPr>
            <a:spLocks noGrp="1"/>
          </p:cNvSpPr>
          <p:nvPr>
            <p:ph type="sldNum" sz="quarter" idx="12"/>
          </p:nvPr>
        </p:nvSpPr>
        <p:spPr/>
        <p:txBody>
          <a:bodyPr/>
          <a:lstStyle/>
          <a:p>
            <a:fld id="{B700889B-37EA-4E34-91C3-3ABA5A44C1F7}" type="slidenum">
              <a:rPr lang="en-IN" smtClean="0"/>
              <a:t>‹#›</a:t>
            </a:fld>
            <a:endParaRPr lang="en-IN"/>
          </a:p>
        </p:txBody>
      </p:sp>
    </p:spTree>
    <p:extLst>
      <p:ext uri="{BB962C8B-B14F-4D97-AF65-F5344CB8AC3E}">
        <p14:creationId xmlns:p14="http://schemas.microsoft.com/office/powerpoint/2010/main" val="2604515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FE1EB-1D34-8F16-139B-00AC821EC24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1571C9-5B74-6C1B-C116-87C9DE7C24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C9C60D-6E08-3C31-50C4-B61534450B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CF4A5B3-ED80-7015-EA88-730F58D35B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F80F9C-069C-E0C6-07BB-BE96B0C82E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2B6A40-71C6-14D8-B8C5-D99CC2AD5418}"/>
              </a:ext>
            </a:extLst>
          </p:cNvPr>
          <p:cNvSpPr>
            <a:spLocks noGrp="1"/>
          </p:cNvSpPr>
          <p:nvPr>
            <p:ph type="dt" sz="half" idx="10"/>
          </p:nvPr>
        </p:nvSpPr>
        <p:spPr/>
        <p:txBody>
          <a:bodyPr/>
          <a:lstStyle/>
          <a:p>
            <a:fld id="{5B76B3D4-05E2-43FD-8612-DF95AD9F4CCC}" type="datetimeFigureOut">
              <a:rPr lang="en-IN" smtClean="0"/>
              <a:t>22-06-2025</a:t>
            </a:fld>
            <a:endParaRPr lang="en-IN"/>
          </a:p>
        </p:txBody>
      </p:sp>
      <p:sp>
        <p:nvSpPr>
          <p:cNvPr id="8" name="Footer Placeholder 7">
            <a:extLst>
              <a:ext uri="{FF2B5EF4-FFF2-40B4-BE49-F238E27FC236}">
                <a16:creationId xmlns:a16="http://schemas.microsoft.com/office/drawing/2014/main" id="{39B2E672-7974-42CB-BA37-B030FC5BAF8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3B923E1-C1E6-D5B1-0901-CDB861B555D0}"/>
              </a:ext>
            </a:extLst>
          </p:cNvPr>
          <p:cNvSpPr>
            <a:spLocks noGrp="1"/>
          </p:cNvSpPr>
          <p:nvPr>
            <p:ph type="sldNum" sz="quarter" idx="12"/>
          </p:nvPr>
        </p:nvSpPr>
        <p:spPr/>
        <p:txBody>
          <a:bodyPr/>
          <a:lstStyle/>
          <a:p>
            <a:fld id="{B700889B-37EA-4E34-91C3-3ABA5A44C1F7}" type="slidenum">
              <a:rPr lang="en-IN" smtClean="0"/>
              <a:t>‹#›</a:t>
            </a:fld>
            <a:endParaRPr lang="en-IN"/>
          </a:p>
        </p:txBody>
      </p:sp>
    </p:spTree>
    <p:extLst>
      <p:ext uri="{BB962C8B-B14F-4D97-AF65-F5344CB8AC3E}">
        <p14:creationId xmlns:p14="http://schemas.microsoft.com/office/powerpoint/2010/main" val="1849333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4CE89-829E-612A-AA53-E4BA304D14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68F3736-02CD-4330-B8EF-E6479D9C98FA}"/>
              </a:ext>
            </a:extLst>
          </p:cNvPr>
          <p:cNvSpPr>
            <a:spLocks noGrp="1"/>
          </p:cNvSpPr>
          <p:nvPr>
            <p:ph type="dt" sz="half" idx="10"/>
          </p:nvPr>
        </p:nvSpPr>
        <p:spPr/>
        <p:txBody>
          <a:bodyPr/>
          <a:lstStyle/>
          <a:p>
            <a:fld id="{5B76B3D4-05E2-43FD-8612-DF95AD9F4CCC}" type="datetimeFigureOut">
              <a:rPr lang="en-IN" smtClean="0"/>
              <a:t>22-06-2025</a:t>
            </a:fld>
            <a:endParaRPr lang="en-IN"/>
          </a:p>
        </p:txBody>
      </p:sp>
      <p:sp>
        <p:nvSpPr>
          <p:cNvPr id="4" name="Footer Placeholder 3">
            <a:extLst>
              <a:ext uri="{FF2B5EF4-FFF2-40B4-BE49-F238E27FC236}">
                <a16:creationId xmlns:a16="http://schemas.microsoft.com/office/drawing/2014/main" id="{F089E5E1-6C95-00E3-93B4-4BBE17C717D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DB31C70-61C4-4B97-AEFA-90E4BBC94CFC}"/>
              </a:ext>
            </a:extLst>
          </p:cNvPr>
          <p:cNvSpPr>
            <a:spLocks noGrp="1"/>
          </p:cNvSpPr>
          <p:nvPr>
            <p:ph type="sldNum" sz="quarter" idx="12"/>
          </p:nvPr>
        </p:nvSpPr>
        <p:spPr/>
        <p:txBody>
          <a:bodyPr/>
          <a:lstStyle/>
          <a:p>
            <a:fld id="{B700889B-37EA-4E34-91C3-3ABA5A44C1F7}" type="slidenum">
              <a:rPr lang="en-IN" smtClean="0"/>
              <a:t>‹#›</a:t>
            </a:fld>
            <a:endParaRPr lang="en-IN"/>
          </a:p>
        </p:txBody>
      </p:sp>
    </p:spTree>
    <p:extLst>
      <p:ext uri="{BB962C8B-B14F-4D97-AF65-F5344CB8AC3E}">
        <p14:creationId xmlns:p14="http://schemas.microsoft.com/office/powerpoint/2010/main" val="40677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E04291-3198-750B-B38D-4F18AC86BCE2}"/>
              </a:ext>
            </a:extLst>
          </p:cNvPr>
          <p:cNvSpPr>
            <a:spLocks noGrp="1"/>
          </p:cNvSpPr>
          <p:nvPr>
            <p:ph type="dt" sz="half" idx="10"/>
          </p:nvPr>
        </p:nvSpPr>
        <p:spPr/>
        <p:txBody>
          <a:bodyPr/>
          <a:lstStyle/>
          <a:p>
            <a:fld id="{5B76B3D4-05E2-43FD-8612-DF95AD9F4CCC}" type="datetimeFigureOut">
              <a:rPr lang="en-IN" smtClean="0"/>
              <a:t>22-06-2025</a:t>
            </a:fld>
            <a:endParaRPr lang="en-IN"/>
          </a:p>
        </p:txBody>
      </p:sp>
      <p:sp>
        <p:nvSpPr>
          <p:cNvPr id="3" name="Footer Placeholder 2">
            <a:extLst>
              <a:ext uri="{FF2B5EF4-FFF2-40B4-BE49-F238E27FC236}">
                <a16:creationId xmlns:a16="http://schemas.microsoft.com/office/drawing/2014/main" id="{1D6D1388-AD3A-BA70-2986-8D189367DD1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6A63C3F-0E12-CAAC-3BD7-C50E321DF933}"/>
              </a:ext>
            </a:extLst>
          </p:cNvPr>
          <p:cNvSpPr>
            <a:spLocks noGrp="1"/>
          </p:cNvSpPr>
          <p:nvPr>
            <p:ph type="sldNum" sz="quarter" idx="12"/>
          </p:nvPr>
        </p:nvSpPr>
        <p:spPr/>
        <p:txBody>
          <a:bodyPr/>
          <a:lstStyle/>
          <a:p>
            <a:fld id="{B700889B-37EA-4E34-91C3-3ABA5A44C1F7}" type="slidenum">
              <a:rPr lang="en-IN" smtClean="0"/>
              <a:t>‹#›</a:t>
            </a:fld>
            <a:endParaRPr lang="en-IN"/>
          </a:p>
        </p:txBody>
      </p:sp>
    </p:spTree>
    <p:extLst>
      <p:ext uri="{BB962C8B-B14F-4D97-AF65-F5344CB8AC3E}">
        <p14:creationId xmlns:p14="http://schemas.microsoft.com/office/powerpoint/2010/main" val="1793892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38085-079A-F9FB-FA5F-E18BD20155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36FC071-3571-2A5F-5FE7-2563B9A396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71E9FF7-C136-35E5-BB2A-C3D940D113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1BF69C-D5F6-A20E-FC7D-7A871FD61877}"/>
              </a:ext>
            </a:extLst>
          </p:cNvPr>
          <p:cNvSpPr>
            <a:spLocks noGrp="1"/>
          </p:cNvSpPr>
          <p:nvPr>
            <p:ph type="dt" sz="half" idx="10"/>
          </p:nvPr>
        </p:nvSpPr>
        <p:spPr/>
        <p:txBody>
          <a:bodyPr/>
          <a:lstStyle/>
          <a:p>
            <a:fld id="{5B76B3D4-05E2-43FD-8612-DF95AD9F4CCC}" type="datetimeFigureOut">
              <a:rPr lang="en-IN" smtClean="0"/>
              <a:t>22-06-2025</a:t>
            </a:fld>
            <a:endParaRPr lang="en-IN"/>
          </a:p>
        </p:txBody>
      </p:sp>
      <p:sp>
        <p:nvSpPr>
          <p:cNvPr id="6" name="Footer Placeholder 5">
            <a:extLst>
              <a:ext uri="{FF2B5EF4-FFF2-40B4-BE49-F238E27FC236}">
                <a16:creationId xmlns:a16="http://schemas.microsoft.com/office/drawing/2014/main" id="{941D0ECE-5E0F-9A6B-7BB1-53D4AA1F04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9991F5-B321-5D95-ECE9-6D8C5CEB4DED}"/>
              </a:ext>
            </a:extLst>
          </p:cNvPr>
          <p:cNvSpPr>
            <a:spLocks noGrp="1"/>
          </p:cNvSpPr>
          <p:nvPr>
            <p:ph type="sldNum" sz="quarter" idx="12"/>
          </p:nvPr>
        </p:nvSpPr>
        <p:spPr/>
        <p:txBody>
          <a:bodyPr/>
          <a:lstStyle/>
          <a:p>
            <a:fld id="{B700889B-37EA-4E34-91C3-3ABA5A44C1F7}" type="slidenum">
              <a:rPr lang="en-IN" smtClean="0"/>
              <a:t>‹#›</a:t>
            </a:fld>
            <a:endParaRPr lang="en-IN"/>
          </a:p>
        </p:txBody>
      </p:sp>
    </p:spTree>
    <p:extLst>
      <p:ext uri="{BB962C8B-B14F-4D97-AF65-F5344CB8AC3E}">
        <p14:creationId xmlns:p14="http://schemas.microsoft.com/office/powerpoint/2010/main" val="398347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74514-A8D4-84E2-A932-15FE9F9CDA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220C751-2621-F5C8-69BF-B00A564C69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E918CE6-446E-4521-F561-7B50F79374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FCB586-7F26-B9CA-2CCE-15F4876A24D9}"/>
              </a:ext>
            </a:extLst>
          </p:cNvPr>
          <p:cNvSpPr>
            <a:spLocks noGrp="1"/>
          </p:cNvSpPr>
          <p:nvPr>
            <p:ph type="dt" sz="half" idx="10"/>
          </p:nvPr>
        </p:nvSpPr>
        <p:spPr/>
        <p:txBody>
          <a:bodyPr/>
          <a:lstStyle/>
          <a:p>
            <a:fld id="{5B76B3D4-05E2-43FD-8612-DF95AD9F4CCC}" type="datetimeFigureOut">
              <a:rPr lang="en-IN" smtClean="0"/>
              <a:t>22-06-2025</a:t>
            </a:fld>
            <a:endParaRPr lang="en-IN"/>
          </a:p>
        </p:txBody>
      </p:sp>
      <p:sp>
        <p:nvSpPr>
          <p:cNvPr id="6" name="Footer Placeholder 5">
            <a:extLst>
              <a:ext uri="{FF2B5EF4-FFF2-40B4-BE49-F238E27FC236}">
                <a16:creationId xmlns:a16="http://schemas.microsoft.com/office/drawing/2014/main" id="{BA999FC5-B80F-0212-520E-C972BDDA26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0BAAAE-885A-727C-C0B5-AEE57F89995D}"/>
              </a:ext>
            </a:extLst>
          </p:cNvPr>
          <p:cNvSpPr>
            <a:spLocks noGrp="1"/>
          </p:cNvSpPr>
          <p:nvPr>
            <p:ph type="sldNum" sz="quarter" idx="12"/>
          </p:nvPr>
        </p:nvSpPr>
        <p:spPr/>
        <p:txBody>
          <a:bodyPr/>
          <a:lstStyle/>
          <a:p>
            <a:fld id="{B700889B-37EA-4E34-91C3-3ABA5A44C1F7}" type="slidenum">
              <a:rPr lang="en-IN" smtClean="0"/>
              <a:t>‹#›</a:t>
            </a:fld>
            <a:endParaRPr lang="en-IN"/>
          </a:p>
        </p:txBody>
      </p:sp>
    </p:spTree>
    <p:extLst>
      <p:ext uri="{BB962C8B-B14F-4D97-AF65-F5344CB8AC3E}">
        <p14:creationId xmlns:p14="http://schemas.microsoft.com/office/powerpoint/2010/main" val="4292502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C2A04-6B0F-B8E8-D34D-3E4B3A4533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922E05-1E31-5C26-C8DD-0A2BE72CE0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BB11AB-8963-8A41-4E89-0969C81D4BFC}"/>
              </a:ext>
            </a:extLst>
          </p:cNvPr>
          <p:cNvSpPr>
            <a:spLocks noGrp="1"/>
          </p:cNvSpPr>
          <p:nvPr>
            <p:ph type="dt" sz="half" idx="10"/>
          </p:nvPr>
        </p:nvSpPr>
        <p:spPr/>
        <p:txBody>
          <a:bodyPr/>
          <a:lstStyle/>
          <a:p>
            <a:fld id="{5B76B3D4-05E2-43FD-8612-DF95AD9F4CCC}" type="datetimeFigureOut">
              <a:rPr lang="en-IN" smtClean="0"/>
              <a:t>22-06-2025</a:t>
            </a:fld>
            <a:endParaRPr lang="en-IN"/>
          </a:p>
        </p:txBody>
      </p:sp>
      <p:sp>
        <p:nvSpPr>
          <p:cNvPr id="5" name="Footer Placeholder 4">
            <a:extLst>
              <a:ext uri="{FF2B5EF4-FFF2-40B4-BE49-F238E27FC236}">
                <a16:creationId xmlns:a16="http://schemas.microsoft.com/office/drawing/2014/main" id="{850C5376-B84E-67DC-9D71-EA7C61D77C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7DAF2D-3E40-6604-8A81-549C528B11A9}"/>
              </a:ext>
            </a:extLst>
          </p:cNvPr>
          <p:cNvSpPr>
            <a:spLocks noGrp="1"/>
          </p:cNvSpPr>
          <p:nvPr>
            <p:ph type="sldNum" sz="quarter" idx="12"/>
          </p:nvPr>
        </p:nvSpPr>
        <p:spPr/>
        <p:txBody>
          <a:bodyPr/>
          <a:lstStyle/>
          <a:p>
            <a:fld id="{B700889B-37EA-4E34-91C3-3ABA5A44C1F7}" type="slidenum">
              <a:rPr lang="en-IN" smtClean="0"/>
              <a:t>‹#›</a:t>
            </a:fld>
            <a:endParaRPr lang="en-IN"/>
          </a:p>
        </p:txBody>
      </p:sp>
    </p:spTree>
    <p:extLst>
      <p:ext uri="{BB962C8B-B14F-4D97-AF65-F5344CB8AC3E}">
        <p14:creationId xmlns:p14="http://schemas.microsoft.com/office/powerpoint/2010/main" val="227134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73086A-0868-96E8-6888-2A0D7B055DF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56CD6B-FA49-34E5-CFEF-C715344903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B93E21-1133-E556-B499-A39BD4FADA5C}"/>
              </a:ext>
            </a:extLst>
          </p:cNvPr>
          <p:cNvSpPr>
            <a:spLocks noGrp="1"/>
          </p:cNvSpPr>
          <p:nvPr>
            <p:ph type="dt" sz="half" idx="10"/>
          </p:nvPr>
        </p:nvSpPr>
        <p:spPr/>
        <p:txBody>
          <a:bodyPr/>
          <a:lstStyle/>
          <a:p>
            <a:fld id="{5B76B3D4-05E2-43FD-8612-DF95AD9F4CCC}" type="datetimeFigureOut">
              <a:rPr lang="en-IN" smtClean="0"/>
              <a:t>22-06-2025</a:t>
            </a:fld>
            <a:endParaRPr lang="en-IN"/>
          </a:p>
        </p:txBody>
      </p:sp>
      <p:sp>
        <p:nvSpPr>
          <p:cNvPr id="5" name="Footer Placeholder 4">
            <a:extLst>
              <a:ext uri="{FF2B5EF4-FFF2-40B4-BE49-F238E27FC236}">
                <a16:creationId xmlns:a16="http://schemas.microsoft.com/office/drawing/2014/main" id="{AA23B138-33CE-19F9-5040-0B1DDDC763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9F637C-051C-78BA-2187-F7CB92B981DB}"/>
              </a:ext>
            </a:extLst>
          </p:cNvPr>
          <p:cNvSpPr>
            <a:spLocks noGrp="1"/>
          </p:cNvSpPr>
          <p:nvPr>
            <p:ph type="sldNum" sz="quarter" idx="12"/>
          </p:nvPr>
        </p:nvSpPr>
        <p:spPr/>
        <p:txBody>
          <a:bodyPr/>
          <a:lstStyle/>
          <a:p>
            <a:fld id="{B700889B-37EA-4E34-91C3-3ABA5A44C1F7}" type="slidenum">
              <a:rPr lang="en-IN" smtClean="0"/>
              <a:t>‹#›</a:t>
            </a:fld>
            <a:endParaRPr lang="en-IN"/>
          </a:p>
        </p:txBody>
      </p:sp>
    </p:spTree>
    <p:extLst>
      <p:ext uri="{BB962C8B-B14F-4D97-AF65-F5344CB8AC3E}">
        <p14:creationId xmlns:p14="http://schemas.microsoft.com/office/powerpoint/2010/main" val="2378040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99A4BB-EE47-4085-DF76-80B166D326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83A418-1698-3847-BAE2-2AEDE97AD9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732C0E-4F10-3A21-494E-0C5505A03C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76B3D4-05E2-43FD-8612-DF95AD9F4CCC}" type="datetimeFigureOut">
              <a:rPr lang="en-IN" smtClean="0"/>
              <a:t>22-06-2025</a:t>
            </a:fld>
            <a:endParaRPr lang="en-IN"/>
          </a:p>
        </p:txBody>
      </p:sp>
      <p:sp>
        <p:nvSpPr>
          <p:cNvPr id="5" name="Footer Placeholder 4">
            <a:extLst>
              <a:ext uri="{FF2B5EF4-FFF2-40B4-BE49-F238E27FC236}">
                <a16:creationId xmlns:a16="http://schemas.microsoft.com/office/drawing/2014/main" id="{25D61925-5070-01DB-B6D3-0290FBDCB4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3EAA9AC-C9F7-8CA1-361A-8F77282558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00889B-37EA-4E34-91C3-3ABA5A44C1F7}" type="slidenum">
              <a:rPr lang="en-IN" smtClean="0"/>
              <a:t>‹#›</a:t>
            </a:fld>
            <a:endParaRPr lang="en-IN"/>
          </a:p>
        </p:txBody>
      </p:sp>
    </p:spTree>
    <p:extLst>
      <p:ext uri="{BB962C8B-B14F-4D97-AF65-F5344CB8AC3E}">
        <p14:creationId xmlns:p14="http://schemas.microsoft.com/office/powerpoint/2010/main" val="421789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file:////Users/rushiljani/Library/Group%20Containers/UBF8T346G9.ms/WebArchiveCopyPasteTempFiles/com.microsoft.Word/wHzDBFlfxxhUgAAAABJRU5ErkJggg==" TargetMode="Externa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file:////Users/rushiljani/Library/Group%20Containers/UBF8T346G9.ms/WebArchiveCopyPasteTempFiles/com.microsoft.Word/A3WVo7LLKjYUAAAAAElFTkSuQmCC" TargetMode="External"/><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2" name="Rectangle 4111">
            <a:extLst>
              <a:ext uri="{FF2B5EF4-FFF2-40B4-BE49-F238E27FC236}">
                <a16:creationId xmlns:a16="http://schemas.microsoft.com/office/drawing/2014/main" id="{675FFAD0-2409-47F2-980A-2CF4FFC69B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4" name="!!Rectangle">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102" name="Picture 6" descr="1,119 Amazon Box Delivery Stock Video Footage - 4K and HD Video Clips |  Shutterstock">
            <a:extLst>
              <a:ext uri="{FF2B5EF4-FFF2-40B4-BE49-F238E27FC236}">
                <a16:creationId xmlns:a16="http://schemas.microsoft.com/office/drawing/2014/main" id="{F3D10D9E-14E4-0D41-4B5D-4291DF60BFEC}"/>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a:stretch>
            <a:fillRect/>
          </a:stretch>
        </p:blipFill>
        <p:spPr bwMode="auto">
          <a:xfrm>
            <a:off x="20" y="1"/>
            <a:ext cx="1219198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72726C1-C079-1ECF-B440-251600A3B805}"/>
              </a:ext>
            </a:extLst>
          </p:cNvPr>
          <p:cNvSpPr txBox="1"/>
          <p:nvPr/>
        </p:nvSpPr>
        <p:spPr>
          <a:xfrm>
            <a:off x="841248" y="426720"/>
            <a:ext cx="10506456" cy="191914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200" b="1">
                <a:solidFill>
                  <a:srgbClr val="FFFFFF"/>
                </a:solidFill>
                <a:latin typeface="+mj-lt"/>
                <a:ea typeface="+mj-ea"/>
                <a:cs typeface="+mj-cs"/>
              </a:rPr>
              <a:t>Amazon Delivery: Environmental Impact Analysis (PESTEL Framework)</a:t>
            </a:r>
            <a:br>
              <a:rPr lang="en-US" sz="4200">
                <a:solidFill>
                  <a:srgbClr val="FFFFFF"/>
                </a:solidFill>
                <a:latin typeface="+mj-lt"/>
                <a:ea typeface="+mj-ea"/>
                <a:cs typeface="+mj-cs"/>
              </a:rPr>
            </a:br>
            <a:endParaRPr lang="en-US" sz="4200">
              <a:solidFill>
                <a:srgbClr val="FFFFFF"/>
              </a:solidFill>
              <a:latin typeface="+mj-lt"/>
              <a:ea typeface="+mj-ea"/>
              <a:cs typeface="+mj-cs"/>
            </a:endParaRPr>
          </a:p>
        </p:txBody>
      </p:sp>
      <p:sp>
        <p:nvSpPr>
          <p:cNvPr id="4116" name="Rectangle 4115">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FF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18" name="Rectangle 411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D95C438B-CA37-3641-420B-C01BEAD7710D}"/>
              </a:ext>
            </a:extLst>
          </p:cNvPr>
          <p:cNvSpPr txBox="1"/>
          <p:nvPr/>
        </p:nvSpPr>
        <p:spPr>
          <a:xfrm>
            <a:off x="841248" y="3337269"/>
            <a:ext cx="10509504" cy="2905686"/>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endParaRPr lang="en-US" sz="2200" b="1">
              <a:solidFill>
                <a:srgbClr val="FFFFFF"/>
              </a:solidFill>
            </a:endParaRPr>
          </a:p>
          <a:p>
            <a:pPr indent="-228600">
              <a:lnSpc>
                <a:spcPct val="90000"/>
              </a:lnSpc>
              <a:spcAft>
                <a:spcPts val="600"/>
              </a:spcAft>
              <a:buFont typeface="Arial" panose="020B0604020202020204" pitchFamily="34" charset="0"/>
              <a:buChar char="•"/>
            </a:pPr>
            <a:r>
              <a:rPr lang="en-US" sz="2200">
                <a:solidFill>
                  <a:srgbClr val="FFFFFF"/>
                </a:solidFill>
              </a:rPr>
              <a:t>Shraddha Ginoya (NF1015893),</a:t>
            </a:r>
          </a:p>
          <a:p>
            <a:pPr indent="-228600">
              <a:lnSpc>
                <a:spcPct val="90000"/>
              </a:lnSpc>
              <a:spcAft>
                <a:spcPts val="600"/>
              </a:spcAft>
              <a:buFont typeface="Arial" panose="020B0604020202020204" pitchFamily="34" charset="0"/>
              <a:buChar char="•"/>
            </a:pPr>
            <a:r>
              <a:rPr lang="en-US" sz="2200">
                <a:solidFill>
                  <a:srgbClr val="FFFFFF"/>
                </a:solidFill>
              </a:rPr>
              <a:t> Rushil Jani (NF1007181)</a:t>
            </a:r>
          </a:p>
          <a:p>
            <a:pPr indent="-228600">
              <a:lnSpc>
                <a:spcPct val="90000"/>
              </a:lnSpc>
              <a:spcAft>
                <a:spcPts val="600"/>
              </a:spcAft>
              <a:buFont typeface="Arial" panose="020B0604020202020204" pitchFamily="34" charset="0"/>
              <a:buChar char="•"/>
            </a:pPr>
            <a:r>
              <a:rPr lang="en-US" sz="2200">
                <a:solidFill>
                  <a:srgbClr val="FFFFFF"/>
                </a:solidFill>
              </a:rPr>
              <a:t>Nkem Iwuajoku NF1006663</a:t>
            </a:r>
          </a:p>
          <a:p>
            <a:pPr indent="-228600">
              <a:lnSpc>
                <a:spcPct val="90000"/>
              </a:lnSpc>
              <a:spcAft>
                <a:spcPts val="600"/>
              </a:spcAft>
              <a:buFont typeface="Arial" panose="020B0604020202020204" pitchFamily="34" charset="0"/>
              <a:buChar char="•"/>
            </a:pPr>
            <a:r>
              <a:rPr lang="en-US" sz="2200">
                <a:solidFill>
                  <a:srgbClr val="FFFFFF"/>
                </a:solidFill>
              </a:rPr>
              <a:t>Group 9, DAMO-511-5, </a:t>
            </a:r>
          </a:p>
          <a:p>
            <a:pPr indent="-228600">
              <a:lnSpc>
                <a:spcPct val="90000"/>
              </a:lnSpc>
              <a:spcAft>
                <a:spcPts val="600"/>
              </a:spcAft>
              <a:buFont typeface="Arial" panose="020B0604020202020204" pitchFamily="34" charset="0"/>
              <a:buChar char="•"/>
            </a:pPr>
            <a:r>
              <a:rPr lang="en-US" sz="2200">
                <a:solidFill>
                  <a:srgbClr val="FFFFFF"/>
                </a:solidFill>
              </a:rPr>
              <a:t>Prof. Omar Nada</a:t>
            </a:r>
          </a:p>
        </p:txBody>
      </p:sp>
      <p:pic>
        <p:nvPicPr>
          <p:cNvPr id="1026" name="Picture 2" descr="upload.wikimedia.org/wikipedia/commons/thumb/a/...">
            <a:extLst>
              <a:ext uri="{FF2B5EF4-FFF2-40B4-BE49-F238E27FC236}">
                <a16:creationId xmlns:a16="http://schemas.microsoft.com/office/drawing/2014/main" id="{0FF95E91-B0AB-1836-C6C1-344576942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8434" y="302812"/>
            <a:ext cx="1120944" cy="338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3482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213AA3C-B831-4FCB-E12C-1E8EF63F11B5}"/>
              </a:ext>
            </a:extLst>
          </p:cNvPr>
          <p:cNvSpPr/>
          <p:nvPr/>
        </p:nvSpPr>
        <p:spPr>
          <a:xfrm>
            <a:off x="0" y="0"/>
            <a:ext cx="3817677" cy="6857999"/>
          </a:xfrm>
          <a:prstGeom prst="rect">
            <a:avLst/>
          </a:prstGeom>
          <a:gradFill>
            <a:gsLst>
              <a:gs pos="0">
                <a:schemeClr val="bg2"/>
              </a:gs>
              <a:gs pos="100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BB3850D2-17FE-5EF3-CC37-FDAA4B002C10}"/>
              </a:ext>
            </a:extLst>
          </p:cNvPr>
          <p:cNvGrpSpPr/>
          <p:nvPr/>
        </p:nvGrpSpPr>
        <p:grpSpPr>
          <a:xfrm>
            <a:off x="5928575" y="1285950"/>
            <a:ext cx="5595422" cy="4780283"/>
            <a:chOff x="6414870" y="2499047"/>
            <a:chExt cx="5595422" cy="4780283"/>
          </a:xfrm>
        </p:grpSpPr>
        <p:sp>
          <p:nvSpPr>
            <p:cNvPr id="5" name="TextBox 4">
              <a:extLst>
                <a:ext uri="{FF2B5EF4-FFF2-40B4-BE49-F238E27FC236}">
                  <a16:creationId xmlns:a16="http://schemas.microsoft.com/office/drawing/2014/main" id="{EB8D878C-CA2A-132C-5834-1737791F753C}"/>
                </a:ext>
              </a:extLst>
            </p:cNvPr>
            <p:cNvSpPr txBox="1"/>
            <p:nvPr/>
          </p:nvSpPr>
          <p:spPr>
            <a:xfrm>
              <a:off x="6414870" y="3022267"/>
              <a:ext cx="5595422" cy="425706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Amazon’s last-mile delivery operations face significant challenges from external and internal factors. </a:t>
              </a:r>
            </a:p>
            <a:p>
              <a:pPr marL="285750" indent="-285750">
                <a:lnSpc>
                  <a:spcPct val="150000"/>
                </a:lnSpc>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This project provides an environmental impact analysis of Amazon’s delivery services using the PESTEL framework (Political, Economic, Social, Technological, Environmental, and Legal).</a:t>
              </a:r>
            </a:p>
            <a:p>
              <a:pPr marL="285750" indent="-285750">
                <a:lnSpc>
                  <a:spcPct val="150000"/>
                </a:lnSpc>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 By analyzing more than 39,000 real-world deliveries from the Kaggle dataset, we applied advanced analytics—including regression, hypothesis testing, and dashboard visualization—to identify key risks and opportunities.</a:t>
              </a:r>
            </a:p>
            <a:p>
              <a:pPr marL="285750" indent="-285750">
                <a:lnSpc>
                  <a:spcPct val="150000"/>
                </a:lnSpc>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 The findings highlight how evolving factors such as weather, distance, and agent performance affect operational efficiency, customer satisfaction, and strategic planning for Amazon’s logistics business.</a:t>
              </a: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0" i="0" dirty="0">
                  <a:solidFill>
                    <a:schemeClr val="tx1">
                      <a:lumMod val="75000"/>
                      <a:lumOff val="25000"/>
                    </a:schemeClr>
                  </a:solidFill>
                  <a:effectLst/>
                  <a:latin typeface="Montserrat" panose="00000500000000000000" pitchFamily="2" charset="0"/>
                </a:rPr>
                <a:t>.</a:t>
              </a:r>
              <a:endParaRPr lang="en-IN" sz="1400" dirty="0">
                <a:solidFill>
                  <a:schemeClr val="tx1">
                    <a:lumMod val="75000"/>
                    <a:lumOff val="25000"/>
                  </a:schemeClr>
                </a:solidFill>
                <a:latin typeface="Montserrat" panose="00000500000000000000" pitchFamily="2" charset="0"/>
              </a:endParaRPr>
            </a:p>
          </p:txBody>
        </p:sp>
        <p:sp>
          <p:nvSpPr>
            <p:cNvPr id="6" name="TextBox 5">
              <a:extLst>
                <a:ext uri="{FF2B5EF4-FFF2-40B4-BE49-F238E27FC236}">
                  <a16:creationId xmlns:a16="http://schemas.microsoft.com/office/drawing/2014/main" id="{28801A12-4A05-C36A-1419-6F300330984B}"/>
                </a:ext>
              </a:extLst>
            </p:cNvPr>
            <p:cNvSpPr txBox="1"/>
            <p:nvPr/>
          </p:nvSpPr>
          <p:spPr>
            <a:xfrm>
              <a:off x="6414870" y="2499047"/>
              <a:ext cx="4000500" cy="461665"/>
            </a:xfrm>
            <a:prstGeom prst="rect">
              <a:avLst/>
            </a:prstGeom>
            <a:noFill/>
          </p:spPr>
          <p:txBody>
            <a:bodyPr wrap="square" rtlCol="0">
              <a:spAutoFit/>
            </a:bodyPr>
            <a:lstStyle/>
            <a:p>
              <a:r>
                <a:rPr lang="en-US" sz="2400" b="1" dirty="0">
                  <a:solidFill>
                    <a:schemeClr val="bg2"/>
                  </a:solidFill>
                  <a:latin typeface="Montserrat" panose="00000500000000000000" pitchFamily="2" charset="0"/>
                </a:rPr>
                <a:t>Introduction</a:t>
              </a:r>
              <a:endParaRPr lang="en-IN" sz="2400" b="1" dirty="0">
                <a:solidFill>
                  <a:schemeClr val="bg2"/>
                </a:solidFill>
                <a:latin typeface="Montserrat" panose="00000500000000000000" pitchFamily="2" charset="0"/>
              </a:endParaRPr>
            </a:p>
          </p:txBody>
        </p:sp>
      </p:grpSp>
      <p:pic>
        <p:nvPicPr>
          <p:cNvPr id="11" name="Picture 10">
            <a:extLst>
              <a:ext uri="{FF2B5EF4-FFF2-40B4-BE49-F238E27FC236}">
                <a16:creationId xmlns:a16="http://schemas.microsoft.com/office/drawing/2014/main" id="{55B7F76F-B6F5-DA06-799C-3EFEADEC55C0}"/>
              </a:ext>
            </a:extLst>
          </p:cNvPr>
          <p:cNvPicPr>
            <a:picLocks noChangeAspect="1"/>
          </p:cNvPicPr>
          <p:nvPr/>
        </p:nvPicPr>
        <p:blipFill>
          <a:blip r:embed="rId2"/>
          <a:stretch>
            <a:fillRect/>
          </a:stretch>
        </p:blipFill>
        <p:spPr>
          <a:xfrm>
            <a:off x="252632" y="4891336"/>
            <a:ext cx="608000" cy="748306"/>
          </a:xfrm>
          <a:custGeom>
            <a:avLst/>
            <a:gdLst>
              <a:gd name="connsiteX0" fmla="*/ 0 w 1158857"/>
              <a:gd name="connsiteY0" fmla="*/ 0 h 1426285"/>
              <a:gd name="connsiteX1" fmla="*/ 1158857 w 1158857"/>
              <a:gd name="connsiteY1" fmla="*/ 0 h 1426285"/>
              <a:gd name="connsiteX2" fmla="*/ 1158857 w 1158857"/>
              <a:gd name="connsiteY2" fmla="*/ 1426286 h 1426285"/>
              <a:gd name="connsiteX3" fmla="*/ 0 w 1158857"/>
              <a:gd name="connsiteY3" fmla="*/ 1426286 h 1426285"/>
            </a:gdLst>
            <a:ahLst/>
            <a:cxnLst>
              <a:cxn ang="0">
                <a:pos x="connsiteX0" y="connsiteY0"/>
              </a:cxn>
              <a:cxn ang="0">
                <a:pos x="connsiteX1" y="connsiteY1"/>
              </a:cxn>
              <a:cxn ang="0">
                <a:pos x="connsiteX2" y="connsiteY2"/>
              </a:cxn>
              <a:cxn ang="0">
                <a:pos x="connsiteX3" y="connsiteY3"/>
              </a:cxn>
            </a:cxnLst>
            <a:rect l="l" t="t" r="r" b="b"/>
            <a:pathLst>
              <a:path w="1158857" h="1426285">
                <a:moveTo>
                  <a:pt x="0" y="0"/>
                </a:moveTo>
                <a:lnTo>
                  <a:pt x="1158857" y="0"/>
                </a:lnTo>
                <a:lnTo>
                  <a:pt x="1158857" y="1426286"/>
                </a:lnTo>
                <a:lnTo>
                  <a:pt x="0" y="1426286"/>
                </a:lnTo>
                <a:close/>
              </a:path>
            </a:pathLst>
          </a:custGeom>
        </p:spPr>
      </p:pic>
      <p:pic>
        <p:nvPicPr>
          <p:cNvPr id="12" name="Picture 2" descr="upload.wikimedia.org/wikipedia/commons/thumb/a/...">
            <a:extLst>
              <a:ext uri="{FF2B5EF4-FFF2-40B4-BE49-F238E27FC236}">
                <a16:creationId xmlns:a16="http://schemas.microsoft.com/office/drawing/2014/main" id="{8C866274-0673-8FB6-9860-7CEAB06BEB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8434" y="302812"/>
            <a:ext cx="1120944" cy="33832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Amazon shoppers rave over 'incredible' fragrance with 4k 5-star reviews -  Nottinghamshire Live">
            <a:extLst>
              <a:ext uri="{FF2B5EF4-FFF2-40B4-BE49-F238E27FC236}">
                <a16:creationId xmlns:a16="http://schemas.microsoft.com/office/drawing/2014/main" id="{8723B99C-11C9-6666-ED92-1AB9E7E34E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632" y="2268777"/>
            <a:ext cx="4954932" cy="3295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5020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F664752-F97B-BA65-663C-BB1A4F57619E}"/>
              </a:ext>
            </a:extLst>
          </p:cNvPr>
          <p:cNvSpPr txBox="1"/>
          <p:nvPr/>
        </p:nvSpPr>
        <p:spPr>
          <a:xfrm>
            <a:off x="-272621" y="1016549"/>
            <a:ext cx="12191999" cy="523220"/>
          </a:xfrm>
          <a:prstGeom prst="rect">
            <a:avLst/>
          </a:prstGeom>
          <a:noFill/>
        </p:spPr>
        <p:txBody>
          <a:bodyPr wrap="square">
            <a:spAutoFit/>
          </a:bodyPr>
          <a:lstStyle/>
          <a:p>
            <a:pPr algn="ctr"/>
            <a:r>
              <a:rPr lang="en-CA" sz="2400" b="1" dirty="0">
                <a:solidFill>
                  <a:schemeClr val="tx2"/>
                </a:solidFill>
              </a:rPr>
              <a:t>Methodology</a:t>
            </a:r>
            <a:r>
              <a:rPr lang="en-CA" sz="2800" b="1" dirty="0">
                <a:solidFill>
                  <a:schemeClr val="tx2"/>
                </a:solidFill>
              </a:rPr>
              <a:t> &amp; Data Handling</a:t>
            </a:r>
            <a:endParaRPr lang="en-IN" sz="2800" b="1" dirty="0">
              <a:solidFill>
                <a:schemeClr val="tx2"/>
              </a:solidFill>
              <a:latin typeface="Montserrat" panose="00000500000000000000" pitchFamily="2" charset="0"/>
            </a:endParaRPr>
          </a:p>
        </p:txBody>
      </p:sp>
      <p:grpSp>
        <p:nvGrpSpPr>
          <p:cNvPr id="13" name="Group 12">
            <a:extLst>
              <a:ext uri="{FF2B5EF4-FFF2-40B4-BE49-F238E27FC236}">
                <a16:creationId xmlns:a16="http://schemas.microsoft.com/office/drawing/2014/main" id="{D02064F0-8B09-1F34-6D81-8E9CA54D5D43}"/>
              </a:ext>
            </a:extLst>
          </p:cNvPr>
          <p:cNvGrpSpPr/>
          <p:nvPr/>
        </p:nvGrpSpPr>
        <p:grpSpPr>
          <a:xfrm>
            <a:off x="-1" y="2438398"/>
            <a:ext cx="12192001" cy="4419602"/>
            <a:chOff x="-1" y="2438398"/>
            <a:chExt cx="12192001" cy="4419602"/>
          </a:xfrm>
        </p:grpSpPr>
        <p:sp>
          <p:nvSpPr>
            <p:cNvPr id="3" name="Rectangle 2">
              <a:extLst>
                <a:ext uri="{FF2B5EF4-FFF2-40B4-BE49-F238E27FC236}">
                  <a16:creationId xmlns:a16="http://schemas.microsoft.com/office/drawing/2014/main" id="{D95C895E-0EF9-9BEA-5661-38087218CF34}"/>
                </a:ext>
              </a:extLst>
            </p:cNvPr>
            <p:cNvSpPr/>
            <p:nvPr/>
          </p:nvSpPr>
          <p:spPr>
            <a:xfrm>
              <a:off x="-1" y="2438400"/>
              <a:ext cx="12191999" cy="4419600"/>
            </a:xfrm>
            <a:prstGeom prst="rect">
              <a:avLst/>
            </a:prstGeom>
            <a:gradFill>
              <a:gsLst>
                <a:gs pos="0">
                  <a:schemeClr val="bg2"/>
                </a:gs>
                <a:gs pos="100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2" name="Group 11">
              <a:extLst>
                <a:ext uri="{FF2B5EF4-FFF2-40B4-BE49-F238E27FC236}">
                  <a16:creationId xmlns:a16="http://schemas.microsoft.com/office/drawing/2014/main" id="{0E997D5A-6414-BE66-67AE-61A2E11BA00A}"/>
                </a:ext>
              </a:extLst>
            </p:cNvPr>
            <p:cNvGrpSpPr/>
            <p:nvPr/>
          </p:nvGrpSpPr>
          <p:grpSpPr>
            <a:xfrm>
              <a:off x="154750" y="2438398"/>
              <a:ext cx="12037250" cy="4419601"/>
              <a:chOff x="154750" y="2438398"/>
              <a:chExt cx="12037250" cy="4419601"/>
            </a:xfrm>
          </p:grpSpPr>
          <p:sp>
            <p:nvSpPr>
              <p:cNvPr id="9" name="TextBox 8">
                <a:extLst>
                  <a:ext uri="{FF2B5EF4-FFF2-40B4-BE49-F238E27FC236}">
                    <a16:creationId xmlns:a16="http://schemas.microsoft.com/office/drawing/2014/main" id="{F696BA7A-9311-B5A7-6E6E-8A45BC2F8DDC}"/>
                  </a:ext>
                </a:extLst>
              </p:cNvPr>
              <p:cNvSpPr txBox="1"/>
              <p:nvPr/>
            </p:nvSpPr>
            <p:spPr>
              <a:xfrm>
                <a:off x="154750" y="2753769"/>
                <a:ext cx="4859155" cy="300274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A" sz="1600" dirty="0">
                    <a:latin typeface="Times New Roman" panose="02020603050405020304" pitchFamily="18" charset="0"/>
                    <a:cs typeface="Times New Roman" panose="02020603050405020304" pitchFamily="18" charset="0"/>
                  </a:rPr>
                  <a:t>Data Source</a:t>
                </a:r>
                <a:r>
                  <a:rPr lang="en-CA" sz="1600" b="1" dirty="0">
                    <a:latin typeface="Times New Roman" panose="02020603050405020304" pitchFamily="18" charset="0"/>
                    <a:cs typeface="Times New Roman" panose="02020603050405020304" pitchFamily="18" charset="0"/>
                  </a:rPr>
                  <a:t>:</a:t>
                </a:r>
                <a:r>
                  <a:rPr lang="en-CA" sz="1600" dirty="0">
                    <a:latin typeface="Times New Roman" panose="02020603050405020304" pitchFamily="18" charset="0"/>
                    <a:cs typeface="Times New Roman" panose="02020603050405020304" pitchFamily="18" charset="0"/>
                  </a:rPr>
                  <a:t> Kaggle (Amazon Delivery Variables</a:t>
                </a:r>
                <a:r>
                  <a:rPr lang="en-CA" sz="1600" b="1" dirty="0">
                    <a:latin typeface="Times New Roman" panose="02020603050405020304" pitchFamily="18" charset="0"/>
                    <a:cs typeface="Times New Roman" panose="02020603050405020304" pitchFamily="18" charset="0"/>
                  </a:rPr>
                  <a:t>:</a:t>
                </a:r>
                <a:r>
                  <a:rPr lang="en-CA" sz="1600" dirty="0">
                    <a:latin typeface="Times New Roman" panose="02020603050405020304" pitchFamily="18" charset="0"/>
                    <a:cs typeface="Times New Roman" panose="02020603050405020304" pitchFamily="18" charset="0"/>
                  </a:rPr>
                  <a:t> Delivery time, weather, distance, traffic, agent info, area, etc.</a:t>
                </a:r>
              </a:p>
              <a:p>
                <a:pPr marL="285750" indent="-285750">
                  <a:lnSpc>
                    <a:spcPct val="150000"/>
                  </a:lnSpc>
                  <a:buFont typeface="Arial" panose="020B0604020202020204" pitchFamily="34" charset="0"/>
                  <a:buChar char="•"/>
                </a:pPr>
                <a:r>
                  <a:rPr lang="en-CA" sz="1600" dirty="0">
                    <a:latin typeface="Times New Roman" panose="02020603050405020304" pitchFamily="18" charset="0"/>
                    <a:cs typeface="Times New Roman" panose="02020603050405020304" pitchFamily="18" charset="0"/>
                  </a:rPr>
                  <a:t>Dataset, 39,365 records post-cleaning).</a:t>
                </a:r>
              </a:p>
              <a:p>
                <a:pPr marL="285750" indent="-285750">
                  <a:lnSpc>
                    <a:spcPct val="150000"/>
                  </a:lnSpc>
                  <a:buFont typeface="Arial" panose="020B0604020202020204" pitchFamily="34" charset="0"/>
                  <a:buChar char="•"/>
                </a:pPr>
                <a:r>
                  <a:rPr lang="en-CA" sz="1600" dirty="0">
                    <a:latin typeface="Times New Roman" panose="02020603050405020304" pitchFamily="18" charset="0"/>
                    <a:cs typeface="Times New Roman" panose="02020603050405020304" pitchFamily="18" charset="0"/>
                  </a:rPr>
                  <a:t>Cleaning Steps</a:t>
                </a:r>
                <a:r>
                  <a:rPr lang="en-CA" sz="1600" b="1" dirty="0">
                    <a:latin typeface="Times New Roman" panose="02020603050405020304" pitchFamily="18" charset="0"/>
                    <a:cs typeface="Times New Roman" panose="02020603050405020304" pitchFamily="18" charset="0"/>
                  </a:rPr>
                  <a:t>:</a:t>
                </a:r>
                <a:r>
                  <a:rPr lang="en-CA" sz="1600" dirty="0">
                    <a:latin typeface="Times New Roman" panose="02020603050405020304" pitchFamily="18" charset="0"/>
                    <a:cs typeface="Times New Roman" panose="02020603050405020304" pitchFamily="18" charset="0"/>
                  </a:rPr>
                  <a:t> Handle missing values, outlier detection, column standardization, duplicate removal.</a:t>
                </a:r>
              </a:p>
              <a:p>
                <a:pPr marL="285750" indent="-285750">
                  <a:lnSpc>
                    <a:spcPct val="150000"/>
                  </a:lnSpc>
                  <a:buFont typeface="Arial" panose="020B0604020202020204" pitchFamily="34" charset="0"/>
                  <a:buChar char="•"/>
                </a:pPr>
                <a:r>
                  <a:rPr lang="en-CA" sz="1600" dirty="0">
                    <a:latin typeface="Times New Roman" panose="02020603050405020304" pitchFamily="18" charset="0"/>
                    <a:cs typeface="Times New Roman" panose="02020603050405020304" pitchFamily="18" charset="0"/>
                  </a:rPr>
                  <a:t>Mapped variables to PESTEL for robust multi-factor analysis.</a:t>
                </a:r>
              </a:p>
            </p:txBody>
          </p:sp>
          <p:pic>
            <p:nvPicPr>
              <p:cNvPr id="11" name="Picture 10" descr="A person holding a tablet&#10;&#10;Description automatically generated">
                <a:extLst>
                  <a:ext uri="{FF2B5EF4-FFF2-40B4-BE49-F238E27FC236}">
                    <a16:creationId xmlns:a16="http://schemas.microsoft.com/office/drawing/2014/main" id="{719697B7-7F69-2AB8-890C-C4316457C2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3907" y="2438398"/>
                <a:ext cx="7178093" cy="4419601"/>
              </a:xfrm>
              <a:prstGeom prst="rect">
                <a:avLst/>
              </a:prstGeom>
            </p:spPr>
          </p:pic>
        </p:grpSp>
      </p:grpSp>
      <p:pic>
        <p:nvPicPr>
          <p:cNvPr id="4" name="Picture 2" descr="upload.wikimedia.org/wikipedia/commons/thumb/a/...">
            <a:extLst>
              <a:ext uri="{FF2B5EF4-FFF2-40B4-BE49-F238E27FC236}">
                <a16:creationId xmlns:a16="http://schemas.microsoft.com/office/drawing/2014/main" id="{2B36C1AE-4BA4-6680-0784-FF39A2BD54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8434" y="302812"/>
            <a:ext cx="1120944" cy="338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9852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Free photo laptop and shopping bags, online shopping concept">
            <a:extLst>
              <a:ext uri="{FF2B5EF4-FFF2-40B4-BE49-F238E27FC236}">
                <a16:creationId xmlns:a16="http://schemas.microsoft.com/office/drawing/2014/main" id="{7456FB9D-F71B-B7EE-F43F-A8FD90F0AA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0" y="-5480"/>
            <a:ext cx="4572000" cy="686348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4D62976-2EC7-7FB6-280B-693658DF36E9}"/>
              </a:ext>
            </a:extLst>
          </p:cNvPr>
          <p:cNvSpPr/>
          <p:nvPr/>
        </p:nvSpPr>
        <p:spPr>
          <a:xfrm>
            <a:off x="2560376" y="723241"/>
            <a:ext cx="3827724" cy="5406039"/>
          </a:xfrm>
          <a:prstGeom prst="rect">
            <a:avLst/>
          </a:prstGeom>
          <a:solidFill>
            <a:schemeClr val="bg1"/>
          </a:solidFill>
          <a:ln>
            <a:noFill/>
          </a:ln>
          <a:effectLst>
            <a:outerShdw blurRad="63500" sx="102000" sy="102000" algn="ctr" rotWithShape="0">
              <a:prstClr val="black">
                <a:alpha val="4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IN" dirty="0"/>
          </a:p>
        </p:txBody>
      </p:sp>
      <p:grpSp>
        <p:nvGrpSpPr>
          <p:cNvPr id="8" name="Group 7">
            <a:extLst>
              <a:ext uri="{FF2B5EF4-FFF2-40B4-BE49-F238E27FC236}">
                <a16:creationId xmlns:a16="http://schemas.microsoft.com/office/drawing/2014/main" id="{4FE93A27-F4E2-7875-EFC2-61A6C1E2756E}"/>
              </a:ext>
            </a:extLst>
          </p:cNvPr>
          <p:cNvGrpSpPr/>
          <p:nvPr/>
        </p:nvGrpSpPr>
        <p:grpSpPr>
          <a:xfrm>
            <a:off x="2560376" y="1773835"/>
            <a:ext cx="3827724" cy="3628015"/>
            <a:chOff x="2560376" y="1318983"/>
            <a:chExt cx="3827724" cy="3628015"/>
          </a:xfrm>
        </p:grpSpPr>
        <p:sp>
          <p:nvSpPr>
            <p:cNvPr id="6" name="TextBox 5">
              <a:extLst>
                <a:ext uri="{FF2B5EF4-FFF2-40B4-BE49-F238E27FC236}">
                  <a16:creationId xmlns:a16="http://schemas.microsoft.com/office/drawing/2014/main" id="{8AD096E6-F609-A405-904B-97D8191BD2DC}"/>
                </a:ext>
              </a:extLst>
            </p:cNvPr>
            <p:cNvSpPr txBox="1"/>
            <p:nvPr/>
          </p:nvSpPr>
          <p:spPr>
            <a:xfrm>
              <a:off x="2674676" y="1982597"/>
              <a:ext cx="3599124" cy="2964401"/>
            </a:xfrm>
            <a:prstGeom prst="rect">
              <a:avLst/>
            </a:prstGeom>
            <a:noFill/>
          </p:spPr>
          <p:txBody>
            <a:bodyPr wrap="square">
              <a:spAutoFit/>
            </a:bodyPr>
            <a:lstStyle/>
            <a:p>
              <a:pPr marL="285750" indent="-285750" algn="ctr" eaLnBrk="0" fontAlgn="base" hangingPunct="0">
                <a:lnSpc>
                  <a:spcPct val="150000"/>
                </a:lnSpc>
                <a:spcBef>
                  <a:spcPct val="0"/>
                </a:spcBef>
                <a:spcAft>
                  <a:spcPct val="0"/>
                </a:spcAft>
                <a:buFont typeface="Wingdings" pitchFamily="2" charset="2"/>
                <a:buChar char="q"/>
              </a:pPr>
              <a:r>
                <a:rPr lang="en-CA" sz="1400" b="1" dirty="0"/>
                <a:t>Multiple Linear Regression</a:t>
              </a:r>
              <a:r>
                <a:rPr lang="en-CA" sz="1400" dirty="0"/>
                <a:t>: Delivery Time ~ Distance + Weather + Traffic</a:t>
              </a:r>
              <a:endParaRPr lang="en-US" sz="1400" dirty="0"/>
            </a:p>
            <a:p>
              <a:pPr marL="285750" indent="-285750" algn="ctr" eaLnBrk="0" fontAlgn="base" hangingPunct="0">
                <a:lnSpc>
                  <a:spcPct val="150000"/>
                </a:lnSpc>
                <a:spcBef>
                  <a:spcPct val="0"/>
                </a:spcBef>
                <a:spcAft>
                  <a:spcPct val="0"/>
                </a:spcAft>
                <a:buFont typeface="Wingdings" pitchFamily="2" charset="2"/>
                <a:buChar char="q"/>
              </a:pPr>
              <a:r>
                <a:rPr lang="en-CA" sz="1400" b="1" dirty="0"/>
                <a:t>Trend &amp; Time Series Analysis</a:t>
              </a:r>
              <a:r>
                <a:rPr lang="en-CA" sz="1400" dirty="0"/>
                <a:t>: Delivery patterns by day/month.</a:t>
              </a:r>
              <a:endParaRPr lang="en-US" sz="1400" dirty="0"/>
            </a:p>
            <a:p>
              <a:pPr marL="285750" indent="-285750" algn="ctr" eaLnBrk="0" fontAlgn="base" hangingPunct="0">
                <a:lnSpc>
                  <a:spcPct val="150000"/>
                </a:lnSpc>
                <a:spcBef>
                  <a:spcPct val="0"/>
                </a:spcBef>
                <a:spcAft>
                  <a:spcPct val="0"/>
                </a:spcAft>
                <a:buFont typeface="Wingdings" pitchFamily="2" charset="2"/>
                <a:buChar char="q"/>
              </a:pPr>
              <a:r>
                <a:rPr lang="en-CA" sz="1400" b="1" dirty="0"/>
                <a:t>Outlier/Anomaly Detection</a:t>
              </a:r>
              <a:r>
                <a:rPr lang="en-CA" sz="1400" dirty="0"/>
                <a:t>: Boxplots, speed/time flags.</a:t>
              </a:r>
              <a:endParaRPr lang="en-US" sz="1400" dirty="0"/>
            </a:p>
            <a:p>
              <a:pPr marL="285750" indent="-285750" algn="ctr" eaLnBrk="0" fontAlgn="base" hangingPunct="0">
                <a:lnSpc>
                  <a:spcPct val="150000"/>
                </a:lnSpc>
                <a:spcBef>
                  <a:spcPct val="0"/>
                </a:spcBef>
                <a:spcAft>
                  <a:spcPct val="0"/>
                </a:spcAft>
                <a:buFont typeface="Wingdings" pitchFamily="2" charset="2"/>
                <a:buChar char="q"/>
              </a:pPr>
              <a:r>
                <a:rPr lang="en-CA" sz="1400" b="1" dirty="0"/>
                <a:t>Hypothesis Testing</a:t>
              </a:r>
              <a:r>
                <a:rPr lang="en-CA" sz="1400" dirty="0"/>
                <a:t>: Mann-Whitney U for weather’s impact on delivery time.</a:t>
              </a:r>
              <a:endParaRPr lang="en-US" sz="1400" dirty="0"/>
            </a:p>
            <a:p>
              <a:pPr marL="0" marR="0" lvl="0" indent="0" algn="ctr"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a:ln>
                  <a:noFill/>
                </a:ln>
                <a:solidFill>
                  <a:schemeClr val="tx1">
                    <a:lumMod val="75000"/>
                    <a:lumOff val="25000"/>
                  </a:schemeClr>
                </a:solidFill>
                <a:effectLst/>
                <a:latin typeface="Montserrat" panose="00000500000000000000" pitchFamily="2" charset="0"/>
              </a:endParaRPr>
            </a:p>
          </p:txBody>
        </p:sp>
        <p:sp>
          <p:nvSpPr>
            <p:cNvPr id="7" name="TextBox 6">
              <a:extLst>
                <a:ext uri="{FF2B5EF4-FFF2-40B4-BE49-F238E27FC236}">
                  <a16:creationId xmlns:a16="http://schemas.microsoft.com/office/drawing/2014/main" id="{B831AA16-6DA3-B553-FB8F-6C8EA76B3EF4}"/>
                </a:ext>
              </a:extLst>
            </p:cNvPr>
            <p:cNvSpPr txBox="1"/>
            <p:nvPr/>
          </p:nvSpPr>
          <p:spPr>
            <a:xfrm>
              <a:off x="2560376" y="1318983"/>
              <a:ext cx="3827724" cy="830997"/>
            </a:xfrm>
            <a:prstGeom prst="rect">
              <a:avLst/>
            </a:prstGeom>
            <a:noFill/>
          </p:spPr>
          <p:txBody>
            <a:bodyPr wrap="square">
              <a:spAutoFit/>
            </a:bodyPr>
            <a:lstStyle/>
            <a:p>
              <a:pPr algn="ctr"/>
              <a:r>
                <a:rPr lang="en-CA" sz="2400" b="1" dirty="0">
                  <a:solidFill>
                    <a:schemeClr val="tx2"/>
                  </a:solidFill>
                </a:rPr>
                <a:t> </a:t>
              </a:r>
              <a:r>
                <a:rPr lang="en-CA" sz="2400" b="1" dirty="0">
                  <a:solidFill>
                    <a:schemeClr val="tx2"/>
                  </a:solidFill>
                  <a:latin typeface="Times New Roman" panose="02020603050405020304" pitchFamily="18" charset="0"/>
                  <a:cs typeface="Times New Roman" panose="02020603050405020304" pitchFamily="18" charset="0"/>
                </a:rPr>
                <a:t>Analysis</a:t>
              </a:r>
              <a:r>
                <a:rPr lang="en-CA" sz="2400" b="1" dirty="0">
                  <a:solidFill>
                    <a:schemeClr val="tx2"/>
                  </a:solidFill>
                </a:rPr>
                <a:t> Techniques</a:t>
              </a:r>
              <a:br>
                <a:rPr lang="en-CA" sz="2400" b="1" dirty="0">
                  <a:solidFill>
                    <a:schemeClr val="tx2"/>
                  </a:solidFill>
                </a:rPr>
              </a:br>
              <a:endParaRPr lang="en-IN" sz="2400" b="1" dirty="0">
                <a:solidFill>
                  <a:schemeClr val="tx2"/>
                </a:solidFill>
                <a:latin typeface="Montserrat" panose="00000500000000000000" pitchFamily="2" charset="0"/>
              </a:endParaRPr>
            </a:p>
          </p:txBody>
        </p:sp>
      </p:grpSp>
      <p:pic>
        <p:nvPicPr>
          <p:cNvPr id="1031" name="Picture 7" descr="Free photo this is the same shoes!">
            <a:extLst>
              <a:ext uri="{FF2B5EF4-FFF2-40B4-BE49-F238E27FC236}">
                <a16:creationId xmlns:a16="http://schemas.microsoft.com/office/drawing/2014/main" id="{89DA169E-511F-6570-8D43-7C81B2228A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9177" y="1103245"/>
            <a:ext cx="2477364" cy="1650258"/>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Free photo showing cart trolley shopping online sign graphic">
            <a:extLst>
              <a:ext uri="{FF2B5EF4-FFF2-40B4-BE49-F238E27FC236}">
                <a16:creationId xmlns:a16="http://schemas.microsoft.com/office/drawing/2014/main" id="{B6DBE625-8C43-3482-FC9B-62AB18A23F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71355" y="1103245"/>
            <a:ext cx="2477364" cy="165421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upload.wikimedia.org/wikipedia/commons/thumb/a/...">
            <a:extLst>
              <a:ext uri="{FF2B5EF4-FFF2-40B4-BE49-F238E27FC236}">
                <a16:creationId xmlns:a16="http://schemas.microsoft.com/office/drawing/2014/main" id="{7F6E93C5-9298-61B9-1FA6-8BFEE35A4C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8434" y="302812"/>
            <a:ext cx="1120944" cy="338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1183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558A1077-3702-EA24-A8B2-A9E73DCB08DD}"/>
              </a:ext>
            </a:extLst>
          </p:cNvPr>
          <p:cNvGrpSpPr/>
          <p:nvPr/>
        </p:nvGrpSpPr>
        <p:grpSpPr>
          <a:xfrm>
            <a:off x="5277371" y="317206"/>
            <a:ext cx="6661997" cy="6540730"/>
            <a:chOff x="5530003" y="1278984"/>
            <a:chExt cx="6661997" cy="6540730"/>
          </a:xfrm>
        </p:grpSpPr>
        <p:sp>
          <p:nvSpPr>
            <p:cNvPr id="4" name="TextBox 3">
              <a:extLst>
                <a:ext uri="{FF2B5EF4-FFF2-40B4-BE49-F238E27FC236}">
                  <a16:creationId xmlns:a16="http://schemas.microsoft.com/office/drawing/2014/main" id="{B9F9C4E8-9041-FB63-6F21-4199FD2C1435}"/>
                </a:ext>
              </a:extLst>
            </p:cNvPr>
            <p:cNvSpPr txBox="1"/>
            <p:nvPr/>
          </p:nvSpPr>
          <p:spPr>
            <a:xfrm>
              <a:off x="6320135" y="1278984"/>
              <a:ext cx="5682395" cy="954107"/>
            </a:xfrm>
            <a:prstGeom prst="rect">
              <a:avLst/>
            </a:prstGeom>
            <a:noFill/>
          </p:spPr>
          <p:txBody>
            <a:bodyPr wrap="square">
              <a:spAutoFit/>
            </a:bodyPr>
            <a:lstStyle/>
            <a:p>
              <a:r>
                <a:rPr lang="en-US" sz="2800" b="1" kern="1200" dirty="0">
                  <a:solidFill>
                    <a:schemeClr val="tx2"/>
                  </a:solidFill>
                  <a:latin typeface="+mj-lt"/>
                  <a:ea typeface="+mj-ea"/>
                  <a:cs typeface="+mj-cs"/>
                </a:rPr>
                <a:t>Multiple</a:t>
              </a:r>
              <a:r>
                <a:rPr lang="en-US" sz="2800" b="1" kern="1200" dirty="0">
                  <a:solidFill>
                    <a:schemeClr val="tx1"/>
                  </a:solidFill>
                  <a:latin typeface="+mj-lt"/>
                  <a:ea typeface="+mj-ea"/>
                  <a:cs typeface="+mj-cs"/>
                </a:rPr>
                <a:t> </a:t>
              </a:r>
              <a:r>
                <a:rPr lang="en-US" sz="2800" b="1" kern="1200" dirty="0">
                  <a:solidFill>
                    <a:schemeClr val="tx2"/>
                  </a:solidFill>
                  <a:latin typeface="+mj-lt"/>
                  <a:ea typeface="+mj-ea"/>
                  <a:cs typeface="+mj-cs"/>
                </a:rPr>
                <a:t>Linear</a:t>
              </a:r>
              <a:r>
                <a:rPr lang="en-US" sz="2800" b="1" kern="1200" dirty="0">
                  <a:solidFill>
                    <a:schemeClr val="tx1"/>
                  </a:solidFill>
                  <a:latin typeface="+mj-lt"/>
                  <a:ea typeface="+mj-ea"/>
                  <a:cs typeface="+mj-cs"/>
                </a:rPr>
                <a:t> </a:t>
              </a:r>
              <a:r>
                <a:rPr lang="en-US" sz="2800" b="1" kern="1200" dirty="0">
                  <a:solidFill>
                    <a:schemeClr val="tx2"/>
                  </a:solidFill>
                  <a:latin typeface="+mj-lt"/>
                  <a:ea typeface="+mj-ea"/>
                  <a:cs typeface="+mj-cs"/>
                </a:rPr>
                <a:t>Regression:</a:t>
              </a:r>
              <a:r>
                <a:rPr lang="en-US" sz="2800" b="1" kern="1200" dirty="0">
                  <a:solidFill>
                    <a:schemeClr val="tx1"/>
                  </a:solidFill>
                  <a:latin typeface="+mj-lt"/>
                  <a:ea typeface="+mj-ea"/>
                  <a:cs typeface="+mj-cs"/>
                </a:rPr>
                <a:t> </a:t>
              </a:r>
              <a:r>
                <a:rPr lang="en-US" sz="2800" b="1" kern="1200" dirty="0">
                  <a:solidFill>
                    <a:schemeClr val="tx2"/>
                  </a:solidFill>
                  <a:latin typeface="+mj-lt"/>
                  <a:ea typeface="+mj-ea"/>
                  <a:cs typeface="+mj-cs"/>
                </a:rPr>
                <a:t>Predicting</a:t>
              </a:r>
              <a:r>
                <a:rPr lang="en-US" sz="2800" b="1" kern="1200" dirty="0">
                  <a:solidFill>
                    <a:schemeClr val="tx1"/>
                  </a:solidFill>
                  <a:latin typeface="+mj-lt"/>
                  <a:ea typeface="+mj-ea"/>
                  <a:cs typeface="+mj-cs"/>
                </a:rPr>
                <a:t> </a:t>
              </a:r>
              <a:r>
                <a:rPr lang="en-US" sz="2800" b="1" kern="1200" dirty="0">
                  <a:solidFill>
                    <a:schemeClr val="tx2"/>
                  </a:solidFill>
                  <a:latin typeface="+mj-lt"/>
                  <a:ea typeface="+mj-ea"/>
                  <a:cs typeface="+mj-cs"/>
                </a:rPr>
                <a:t>Amazon</a:t>
              </a:r>
              <a:r>
                <a:rPr lang="en-US" sz="2800" b="1" kern="1200" dirty="0">
                  <a:solidFill>
                    <a:schemeClr val="tx1"/>
                  </a:solidFill>
                  <a:latin typeface="+mj-lt"/>
                  <a:ea typeface="+mj-ea"/>
                  <a:cs typeface="+mj-cs"/>
                </a:rPr>
                <a:t> </a:t>
              </a:r>
              <a:r>
                <a:rPr lang="en-US" sz="2800" b="1" kern="1200" dirty="0">
                  <a:solidFill>
                    <a:schemeClr val="tx2"/>
                  </a:solidFill>
                  <a:latin typeface="+mj-lt"/>
                  <a:ea typeface="+mj-ea"/>
                  <a:cs typeface="+mj-cs"/>
                </a:rPr>
                <a:t>Delivery</a:t>
              </a:r>
              <a:r>
                <a:rPr lang="en-US" sz="2800" b="1" kern="1200" dirty="0">
                  <a:solidFill>
                    <a:schemeClr val="tx1"/>
                  </a:solidFill>
                  <a:latin typeface="+mj-lt"/>
                  <a:ea typeface="+mj-ea"/>
                  <a:cs typeface="+mj-cs"/>
                </a:rPr>
                <a:t> </a:t>
              </a:r>
              <a:r>
                <a:rPr lang="en-US" sz="2800" b="1" kern="1200" dirty="0">
                  <a:solidFill>
                    <a:schemeClr val="tx2"/>
                  </a:solidFill>
                  <a:latin typeface="+mj-lt"/>
                  <a:ea typeface="+mj-ea"/>
                  <a:cs typeface="+mj-cs"/>
                </a:rPr>
                <a:t>Time</a:t>
              </a:r>
              <a:endParaRPr lang="en-IN" sz="2800" b="1" dirty="0">
                <a:solidFill>
                  <a:schemeClr val="tx2"/>
                </a:solidFill>
                <a:latin typeface="Montserrat" panose="00000500000000000000" pitchFamily="2" charset="0"/>
              </a:endParaRPr>
            </a:p>
          </p:txBody>
        </p:sp>
        <p:grpSp>
          <p:nvGrpSpPr>
            <p:cNvPr id="17" name="Group 16">
              <a:extLst>
                <a:ext uri="{FF2B5EF4-FFF2-40B4-BE49-F238E27FC236}">
                  <a16:creationId xmlns:a16="http://schemas.microsoft.com/office/drawing/2014/main" id="{18767620-5977-6469-080C-E624D6E53DC6}"/>
                </a:ext>
              </a:extLst>
            </p:cNvPr>
            <p:cNvGrpSpPr/>
            <p:nvPr/>
          </p:nvGrpSpPr>
          <p:grpSpPr>
            <a:xfrm>
              <a:off x="5530003" y="2593219"/>
              <a:ext cx="6661997" cy="5226495"/>
              <a:chOff x="-349158" y="2825282"/>
              <a:chExt cx="6661997" cy="5226495"/>
            </a:xfrm>
          </p:grpSpPr>
          <p:sp>
            <p:nvSpPr>
              <p:cNvPr id="6" name="TextBox 5">
                <a:extLst>
                  <a:ext uri="{FF2B5EF4-FFF2-40B4-BE49-F238E27FC236}">
                    <a16:creationId xmlns:a16="http://schemas.microsoft.com/office/drawing/2014/main" id="{A3673E0C-A595-276C-C60B-DB4B8FE8F467}"/>
                  </a:ext>
                </a:extLst>
              </p:cNvPr>
              <p:cNvSpPr txBox="1"/>
              <p:nvPr/>
            </p:nvSpPr>
            <p:spPr>
              <a:xfrm>
                <a:off x="58608" y="2825282"/>
                <a:ext cx="6159496" cy="5226495"/>
              </a:xfrm>
              <a:prstGeom prst="rect">
                <a:avLst/>
              </a:prstGeom>
              <a:noFill/>
            </p:spPr>
            <p:txBody>
              <a:bodyPr wrap="square">
                <a:spAutoFit/>
              </a:bodyPr>
              <a:lstStyle/>
              <a:p>
                <a:pPr indent="-228600">
                  <a:lnSpc>
                    <a:spcPct val="150000"/>
                  </a:lnSpc>
                  <a:buFont typeface="Arial" panose="020B0604020202020204" pitchFamily="34" charset="0"/>
                  <a:buChar char="•"/>
                </a:pPr>
                <a:r>
                  <a:rPr lang="en-US" sz="1400" b="1" dirty="0"/>
                  <a:t>Objective:</a:t>
                </a:r>
                <a:br>
                  <a:rPr lang="en-US" sz="1400" dirty="0"/>
                </a:br>
                <a:r>
                  <a:rPr lang="en-US" sz="1400" dirty="0"/>
                  <a:t>Predict delivery time using distance, weather, and traffic as predictors (n = 39,365 orders).</a:t>
                </a:r>
              </a:p>
              <a:p>
                <a:pPr indent="-228600">
                  <a:lnSpc>
                    <a:spcPct val="150000"/>
                  </a:lnSpc>
                  <a:buFont typeface="Arial" panose="020B0604020202020204" pitchFamily="34" charset="0"/>
                  <a:buChar char="•"/>
                </a:pPr>
                <a:r>
                  <a:rPr lang="en-US" sz="1400" b="1" dirty="0"/>
                  <a:t>Regression Model:</a:t>
                </a:r>
                <a:br>
                  <a:rPr lang="en-US" sz="1400" dirty="0"/>
                </a:br>
                <a:r>
                  <a:rPr lang="en-US" sz="1400" dirty="0"/>
                  <a:t>Delivery Time = 121.29 + 2.67 × Distance – 4.54 × Weather – 11.83 × Traffic</a:t>
                </a:r>
              </a:p>
              <a:p>
                <a:pPr indent="-228600">
                  <a:lnSpc>
                    <a:spcPct val="150000"/>
                  </a:lnSpc>
                  <a:buFont typeface="Arial" panose="020B0604020202020204" pitchFamily="34" charset="0"/>
                  <a:buChar char="•"/>
                </a:pPr>
                <a:r>
                  <a:rPr lang="en-US" sz="1400" b="1" dirty="0"/>
                  <a:t>Key Findings:</a:t>
                </a:r>
                <a:endParaRPr lang="en-US" sz="1400" dirty="0"/>
              </a:p>
              <a:p>
                <a:pPr marL="742950" lvl="1" indent="-228600">
                  <a:lnSpc>
                    <a:spcPct val="150000"/>
                  </a:lnSpc>
                  <a:buFont typeface="Arial" panose="020B0604020202020204" pitchFamily="34" charset="0"/>
                  <a:buChar char="•"/>
                </a:pPr>
                <a:r>
                  <a:rPr lang="en-US" sz="1400" b="1" dirty="0"/>
                  <a:t>Distance:</a:t>
                </a:r>
                <a:r>
                  <a:rPr lang="en-US" sz="1400" dirty="0"/>
                  <a:t> Each additional km increases delivery time by </a:t>
                </a:r>
                <a:r>
                  <a:rPr lang="en-US" sz="1400" b="1" dirty="0"/>
                  <a:t>~2.67 minutes</a:t>
                </a:r>
                <a:r>
                  <a:rPr lang="en-US" sz="1400" dirty="0"/>
                  <a:t> (</a:t>
                </a:r>
                <a:r>
                  <a:rPr lang="en-US" sz="1400" i="1" dirty="0"/>
                  <a:t>p</a:t>
                </a:r>
                <a:r>
                  <a:rPr lang="en-US" sz="1400" dirty="0"/>
                  <a:t> &lt; .001).</a:t>
                </a:r>
              </a:p>
              <a:p>
                <a:pPr marL="742950" lvl="1" indent="-228600">
                  <a:lnSpc>
                    <a:spcPct val="150000"/>
                  </a:lnSpc>
                  <a:buFont typeface="Arial" panose="020B0604020202020204" pitchFamily="34" charset="0"/>
                  <a:buChar char="•"/>
                </a:pPr>
                <a:r>
                  <a:rPr lang="en-US" sz="1400" b="1" dirty="0"/>
                  <a:t>Weather:</a:t>
                </a:r>
                <a:r>
                  <a:rPr lang="en-US" sz="1400" dirty="0"/>
                  <a:t> Adverse weather significantly </a:t>
                </a:r>
                <a:r>
                  <a:rPr lang="en-US" sz="1400" b="1" dirty="0"/>
                  <a:t>delays deliveries</a:t>
                </a:r>
                <a:r>
                  <a:rPr lang="en-US" sz="1400" dirty="0"/>
                  <a:t> (</a:t>
                </a:r>
                <a:r>
                  <a:rPr lang="en-US" sz="1400" i="1" dirty="0"/>
                  <a:t>p</a:t>
                </a:r>
                <a:r>
                  <a:rPr lang="en-US" sz="1400" dirty="0"/>
                  <a:t> &lt; .001).</a:t>
                </a:r>
              </a:p>
              <a:p>
                <a:pPr marL="742950" lvl="1" indent="-228600">
                  <a:lnSpc>
                    <a:spcPct val="150000"/>
                  </a:lnSpc>
                  <a:buFont typeface="Arial" panose="020B0604020202020204" pitchFamily="34" charset="0"/>
                  <a:buChar char="•"/>
                </a:pPr>
                <a:r>
                  <a:rPr lang="en-US" sz="1400" b="1" dirty="0"/>
                  <a:t>Traffic:</a:t>
                </a:r>
                <a:r>
                  <a:rPr lang="en-US" sz="1400" dirty="0"/>
                  <a:t> Higher traffic levels also </a:t>
                </a:r>
                <a:r>
                  <a:rPr lang="en-US" sz="1400" b="1" dirty="0"/>
                  <a:t>increase delivery time</a:t>
                </a:r>
                <a:r>
                  <a:rPr lang="en-US" sz="1400" dirty="0"/>
                  <a:t> (</a:t>
                </a:r>
                <a:r>
                  <a:rPr lang="en-US" sz="1400" i="1" dirty="0"/>
                  <a:t>p</a:t>
                </a:r>
                <a:r>
                  <a:rPr lang="en-US" sz="1400" dirty="0"/>
                  <a:t> &lt; .001).</a:t>
                </a:r>
              </a:p>
              <a:p>
                <a:pPr marL="742950" lvl="1" indent="-228600">
                  <a:lnSpc>
                    <a:spcPct val="150000"/>
                  </a:lnSpc>
                  <a:buFont typeface="Arial" panose="020B0604020202020204" pitchFamily="34" charset="0"/>
                  <a:buChar char="•"/>
                </a:pPr>
                <a:r>
                  <a:rPr lang="en-US" sz="1400" b="1" dirty="0"/>
                  <a:t>R²:</a:t>
                </a:r>
                <a:r>
                  <a:rPr lang="en-US" sz="1400" dirty="0"/>
                  <a:t> 0.15 (15% of variation explained by model).</a:t>
                </a:r>
              </a:p>
              <a:p>
                <a:pPr indent="-228600">
                  <a:lnSpc>
                    <a:spcPct val="150000"/>
                  </a:lnSpc>
                  <a:buFont typeface="Arial" panose="020B0604020202020204" pitchFamily="34" charset="0"/>
                  <a:buChar char="•"/>
                </a:pPr>
                <a:r>
                  <a:rPr lang="en-US" sz="1400" b="1" dirty="0"/>
                  <a:t>Strategic Insight:</a:t>
                </a:r>
                <a:br>
                  <a:rPr lang="en-US" sz="1400" dirty="0"/>
                </a:br>
                <a:r>
                  <a:rPr lang="en-US" sz="1400" dirty="0"/>
                  <a:t>Distance, weather, and traffic are major drivers of delays. Optimizing routes and proactively managing weather and traffic can improve Amazon’s delivery efficiency.</a:t>
                </a:r>
              </a:p>
              <a:p>
                <a:pPr>
                  <a:lnSpc>
                    <a:spcPct val="150000"/>
                  </a:lnSpc>
                </a:pPr>
                <a:endParaRPr lang="en-IN" sz="1400" b="1" dirty="0">
                  <a:solidFill>
                    <a:schemeClr val="tx1">
                      <a:lumMod val="85000"/>
                      <a:lumOff val="15000"/>
                    </a:schemeClr>
                  </a:solidFill>
                  <a:latin typeface="Montserrat" panose="00000500000000000000" pitchFamily="2" charset="0"/>
                </a:endParaRPr>
              </a:p>
            </p:txBody>
          </p:sp>
          <p:sp>
            <p:nvSpPr>
              <p:cNvPr id="8" name="TextBox 7">
                <a:extLst>
                  <a:ext uri="{FF2B5EF4-FFF2-40B4-BE49-F238E27FC236}">
                    <a16:creationId xmlns:a16="http://schemas.microsoft.com/office/drawing/2014/main" id="{CCDA0E52-5EC7-C9EC-2AF4-9820C432F977}"/>
                  </a:ext>
                </a:extLst>
              </p:cNvPr>
              <p:cNvSpPr txBox="1"/>
              <p:nvPr/>
            </p:nvSpPr>
            <p:spPr>
              <a:xfrm>
                <a:off x="-349158" y="6203033"/>
                <a:ext cx="5205628" cy="317587"/>
              </a:xfrm>
              <a:prstGeom prst="rect">
                <a:avLst/>
              </a:prstGeom>
              <a:noFill/>
            </p:spPr>
            <p:txBody>
              <a:bodyPr wrap="square">
                <a:spAutoFit/>
              </a:bodyPr>
              <a:lstStyle/>
              <a:p>
                <a:pPr>
                  <a:lnSpc>
                    <a:spcPct val="150000"/>
                  </a:lnSpc>
                </a:pPr>
                <a:endParaRPr lang="en-IN" sz="1100" dirty="0">
                  <a:solidFill>
                    <a:schemeClr val="tx1">
                      <a:lumMod val="85000"/>
                      <a:lumOff val="15000"/>
                    </a:schemeClr>
                  </a:solidFill>
                  <a:latin typeface="Montserrat" panose="00000500000000000000" pitchFamily="2" charset="0"/>
                </a:endParaRPr>
              </a:p>
            </p:txBody>
          </p:sp>
          <p:sp>
            <p:nvSpPr>
              <p:cNvPr id="9" name="TextBox 8">
                <a:extLst>
                  <a:ext uri="{FF2B5EF4-FFF2-40B4-BE49-F238E27FC236}">
                    <a16:creationId xmlns:a16="http://schemas.microsoft.com/office/drawing/2014/main" id="{C5B263E4-811D-1B25-4674-C0F27637DACC}"/>
                  </a:ext>
                </a:extLst>
              </p:cNvPr>
              <p:cNvSpPr txBox="1"/>
              <p:nvPr/>
            </p:nvSpPr>
            <p:spPr>
              <a:xfrm>
                <a:off x="440974" y="5627363"/>
                <a:ext cx="5777130" cy="369332"/>
              </a:xfrm>
              <a:prstGeom prst="rect">
                <a:avLst/>
              </a:prstGeom>
              <a:noFill/>
            </p:spPr>
            <p:txBody>
              <a:bodyPr wrap="square">
                <a:spAutoFit/>
              </a:bodyPr>
              <a:lstStyle/>
              <a:p>
                <a:endParaRPr lang="en-IN" b="1" dirty="0">
                  <a:solidFill>
                    <a:schemeClr val="tx1">
                      <a:lumMod val="85000"/>
                      <a:lumOff val="15000"/>
                    </a:schemeClr>
                  </a:solidFill>
                  <a:latin typeface="Montserrat" panose="00000500000000000000" pitchFamily="2" charset="0"/>
                </a:endParaRPr>
              </a:p>
            </p:txBody>
          </p:sp>
          <p:sp>
            <p:nvSpPr>
              <p:cNvPr id="10" name="TextBox 9">
                <a:extLst>
                  <a:ext uri="{FF2B5EF4-FFF2-40B4-BE49-F238E27FC236}">
                    <a16:creationId xmlns:a16="http://schemas.microsoft.com/office/drawing/2014/main" id="{07829FB3-B8A6-A342-946E-4A1FD741857C}"/>
                  </a:ext>
                </a:extLst>
              </p:cNvPr>
              <p:cNvSpPr txBox="1"/>
              <p:nvPr/>
            </p:nvSpPr>
            <p:spPr>
              <a:xfrm>
                <a:off x="375071" y="5304197"/>
                <a:ext cx="5205628" cy="317587"/>
              </a:xfrm>
              <a:prstGeom prst="rect">
                <a:avLst/>
              </a:prstGeom>
              <a:noFill/>
            </p:spPr>
            <p:txBody>
              <a:bodyPr wrap="square">
                <a:spAutoFit/>
              </a:bodyPr>
              <a:lstStyle/>
              <a:p>
                <a:pPr>
                  <a:lnSpc>
                    <a:spcPct val="150000"/>
                  </a:lnSpc>
                </a:pPr>
                <a:endParaRPr lang="en-IN" sz="1100" dirty="0">
                  <a:solidFill>
                    <a:schemeClr val="tx1">
                      <a:lumMod val="85000"/>
                      <a:lumOff val="15000"/>
                    </a:schemeClr>
                  </a:solidFill>
                  <a:latin typeface="Montserrat" panose="00000500000000000000" pitchFamily="2" charset="0"/>
                </a:endParaRPr>
              </a:p>
            </p:txBody>
          </p:sp>
          <p:sp>
            <p:nvSpPr>
              <p:cNvPr id="15" name="TextBox 14">
                <a:extLst>
                  <a:ext uri="{FF2B5EF4-FFF2-40B4-BE49-F238E27FC236}">
                    <a16:creationId xmlns:a16="http://schemas.microsoft.com/office/drawing/2014/main" id="{82C439D6-7B35-9BEA-5470-B64D42EFE0CC}"/>
                  </a:ext>
                </a:extLst>
              </p:cNvPr>
              <p:cNvSpPr txBox="1"/>
              <p:nvPr/>
            </p:nvSpPr>
            <p:spPr>
              <a:xfrm>
                <a:off x="535709" y="4861448"/>
                <a:ext cx="5777130" cy="369332"/>
              </a:xfrm>
              <a:prstGeom prst="rect">
                <a:avLst/>
              </a:prstGeom>
              <a:noFill/>
            </p:spPr>
            <p:txBody>
              <a:bodyPr wrap="square">
                <a:spAutoFit/>
              </a:bodyPr>
              <a:lstStyle/>
              <a:p>
                <a:endParaRPr lang="en-IN" b="1" dirty="0">
                  <a:solidFill>
                    <a:schemeClr val="tx1">
                      <a:lumMod val="85000"/>
                      <a:lumOff val="15000"/>
                    </a:schemeClr>
                  </a:solidFill>
                  <a:latin typeface="Montserrat" panose="00000500000000000000" pitchFamily="2" charset="0"/>
                </a:endParaRPr>
              </a:p>
            </p:txBody>
          </p:sp>
          <p:sp>
            <p:nvSpPr>
              <p:cNvPr id="16" name="TextBox 15">
                <a:extLst>
                  <a:ext uri="{FF2B5EF4-FFF2-40B4-BE49-F238E27FC236}">
                    <a16:creationId xmlns:a16="http://schemas.microsoft.com/office/drawing/2014/main" id="{6CAD2932-D8AE-09A2-6B2D-1141C790538A}"/>
                  </a:ext>
                </a:extLst>
              </p:cNvPr>
              <p:cNvSpPr txBox="1"/>
              <p:nvPr/>
            </p:nvSpPr>
            <p:spPr>
              <a:xfrm>
                <a:off x="535709" y="5363995"/>
                <a:ext cx="5205628" cy="317587"/>
              </a:xfrm>
              <a:prstGeom prst="rect">
                <a:avLst/>
              </a:prstGeom>
              <a:noFill/>
            </p:spPr>
            <p:txBody>
              <a:bodyPr wrap="square">
                <a:spAutoFit/>
              </a:bodyPr>
              <a:lstStyle/>
              <a:p>
                <a:pPr>
                  <a:lnSpc>
                    <a:spcPct val="150000"/>
                  </a:lnSpc>
                </a:pPr>
                <a:endParaRPr lang="en-IN" sz="1100" dirty="0">
                  <a:solidFill>
                    <a:schemeClr val="tx1">
                      <a:lumMod val="85000"/>
                      <a:lumOff val="15000"/>
                    </a:schemeClr>
                  </a:solidFill>
                  <a:latin typeface="Montserrat" panose="00000500000000000000" pitchFamily="2" charset="0"/>
                </a:endParaRPr>
              </a:p>
            </p:txBody>
          </p:sp>
        </p:grpSp>
      </p:grpSp>
      <p:sp>
        <p:nvSpPr>
          <p:cNvPr id="19" name="Rectangle 18">
            <a:extLst>
              <a:ext uri="{FF2B5EF4-FFF2-40B4-BE49-F238E27FC236}">
                <a16:creationId xmlns:a16="http://schemas.microsoft.com/office/drawing/2014/main" id="{318EBBCF-498F-919C-FF02-657BCABD7CAA}"/>
              </a:ext>
            </a:extLst>
          </p:cNvPr>
          <p:cNvSpPr/>
          <p:nvPr/>
        </p:nvSpPr>
        <p:spPr>
          <a:xfrm>
            <a:off x="0" y="1"/>
            <a:ext cx="3817677" cy="6857999"/>
          </a:xfrm>
          <a:prstGeom prst="rect">
            <a:avLst/>
          </a:prstGeom>
          <a:gradFill>
            <a:gsLst>
              <a:gs pos="0">
                <a:schemeClr val="bg2"/>
              </a:gs>
              <a:gs pos="100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D7B47121-1658-2A94-F8FD-2109630FF3EC}"/>
              </a:ext>
            </a:extLst>
          </p:cNvPr>
          <p:cNvPicPr>
            <a:picLocks noChangeAspect="1"/>
          </p:cNvPicPr>
          <p:nvPr/>
        </p:nvPicPr>
        <p:blipFill>
          <a:blip r:embed="rId2"/>
          <a:stretch>
            <a:fillRect/>
          </a:stretch>
        </p:blipFill>
        <p:spPr>
          <a:xfrm>
            <a:off x="252632" y="4891336"/>
            <a:ext cx="608000" cy="748306"/>
          </a:xfrm>
          <a:custGeom>
            <a:avLst/>
            <a:gdLst>
              <a:gd name="connsiteX0" fmla="*/ 0 w 1158857"/>
              <a:gd name="connsiteY0" fmla="*/ 0 h 1426285"/>
              <a:gd name="connsiteX1" fmla="*/ 1158857 w 1158857"/>
              <a:gd name="connsiteY1" fmla="*/ 0 h 1426285"/>
              <a:gd name="connsiteX2" fmla="*/ 1158857 w 1158857"/>
              <a:gd name="connsiteY2" fmla="*/ 1426286 h 1426285"/>
              <a:gd name="connsiteX3" fmla="*/ 0 w 1158857"/>
              <a:gd name="connsiteY3" fmla="*/ 1426286 h 1426285"/>
            </a:gdLst>
            <a:ahLst/>
            <a:cxnLst>
              <a:cxn ang="0">
                <a:pos x="connsiteX0" y="connsiteY0"/>
              </a:cxn>
              <a:cxn ang="0">
                <a:pos x="connsiteX1" y="connsiteY1"/>
              </a:cxn>
              <a:cxn ang="0">
                <a:pos x="connsiteX2" y="connsiteY2"/>
              </a:cxn>
              <a:cxn ang="0">
                <a:pos x="connsiteX3" y="connsiteY3"/>
              </a:cxn>
            </a:cxnLst>
            <a:rect l="l" t="t" r="r" b="b"/>
            <a:pathLst>
              <a:path w="1158857" h="1426285">
                <a:moveTo>
                  <a:pt x="0" y="0"/>
                </a:moveTo>
                <a:lnTo>
                  <a:pt x="1158857" y="0"/>
                </a:lnTo>
                <a:lnTo>
                  <a:pt x="1158857" y="1426286"/>
                </a:lnTo>
                <a:lnTo>
                  <a:pt x="0" y="1426286"/>
                </a:lnTo>
                <a:close/>
              </a:path>
            </a:pathLst>
          </a:custGeom>
        </p:spPr>
      </p:pic>
      <p:pic>
        <p:nvPicPr>
          <p:cNvPr id="3" name="Picture 2" descr="upload.wikimedia.org/wikipedia/commons/thumb/a/...">
            <a:extLst>
              <a:ext uri="{FF2B5EF4-FFF2-40B4-BE49-F238E27FC236}">
                <a16:creationId xmlns:a16="http://schemas.microsoft.com/office/drawing/2014/main" id="{0CCFFEFE-DD3D-6DE0-E3E2-B48D50B5C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8434" y="302812"/>
            <a:ext cx="1120944" cy="33832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diagram of a delivery time&#10;&#10;Description automatically generated">
            <a:extLst>
              <a:ext uri="{FF2B5EF4-FFF2-40B4-BE49-F238E27FC236}">
                <a16:creationId xmlns:a16="http://schemas.microsoft.com/office/drawing/2014/main" id="{0A112AE7-2042-EC4E-FC82-5E1DA0A16181}"/>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tretch>
            <a:fillRect/>
          </a:stretch>
        </p:blipFill>
        <p:spPr bwMode="auto">
          <a:xfrm>
            <a:off x="926535" y="2081341"/>
            <a:ext cx="4681506" cy="370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1865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B3FE-F2AB-B5A8-9682-B72077CF2607}"/>
            </a:ext>
          </a:extLst>
        </p:cNvPr>
        <p:cNvGrpSpPr/>
        <p:nvPr/>
      </p:nvGrpSpPr>
      <p:grpSpPr>
        <a:xfrm>
          <a:off x="0" y="0"/>
          <a:ext cx="0" cy="0"/>
          <a:chOff x="0" y="0"/>
          <a:chExt cx="0" cy="0"/>
        </a:xfrm>
      </p:grpSpPr>
      <p:grpSp>
        <p:nvGrpSpPr>
          <p:cNvPr id="22" name="Group 21">
            <a:extLst>
              <a:ext uri="{FF2B5EF4-FFF2-40B4-BE49-F238E27FC236}">
                <a16:creationId xmlns:a16="http://schemas.microsoft.com/office/drawing/2014/main" id="{E9FA36B0-D877-5FFF-7214-922CF1841FE1}"/>
              </a:ext>
            </a:extLst>
          </p:cNvPr>
          <p:cNvGrpSpPr/>
          <p:nvPr/>
        </p:nvGrpSpPr>
        <p:grpSpPr>
          <a:xfrm>
            <a:off x="5685137" y="317206"/>
            <a:ext cx="6254231" cy="5894463"/>
            <a:chOff x="5937769" y="1278984"/>
            <a:chExt cx="6254231" cy="5894463"/>
          </a:xfrm>
        </p:grpSpPr>
        <p:sp>
          <p:nvSpPr>
            <p:cNvPr id="4" name="TextBox 3">
              <a:extLst>
                <a:ext uri="{FF2B5EF4-FFF2-40B4-BE49-F238E27FC236}">
                  <a16:creationId xmlns:a16="http://schemas.microsoft.com/office/drawing/2014/main" id="{B0CAF116-4E3A-4775-CD9C-15D53155C344}"/>
                </a:ext>
              </a:extLst>
            </p:cNvPr>
            <p:cNvSpPr txBox="1"/>
            <p:nvPr/>
          </p:nvSpPr>
          <p:spPr>
            <a:xfrm>
              <a:off x="6320135" y="1278984"/>
              <a:ext cx="5682395" cy="1384995"/>
            </a:xfrm>
            <a:prstGeom prst="rect">
              <a:avLst/>
            </a:prstGeom>
            <a:noFill/>
          </p:spPr>
          <p:txBody>
            <a:bodyPr wrap="square">
              <a:spAutoFit/>
            </a:bodyPr>
            <a:lstStyle/>
            <a:p>
              <a:r>
                <a:rPr lang="en-US" sz="2800" b="1" kern="1200" dirty="0">
                  <a:solidFill>
                    <a:schemeClr val="tx2"/>
                  </a:solidFill>
                  <a:latin typeface="+mj-lt"/>
                  <a:ea typeface="+mj-ea"/>
                  <a:cs typeface="+mj-cs"/>
                </a:rPr>
                <a:t>Finding correlation between speed</a:t>
              </a:r>
            </a:p>
            <a:p>
              <a:r>
                <a:rPr lang="en-US" sz="2800" b="1" dirty="0">
                  <a:solidFill>
                    <a:schemeClr val="tx2"/>
                  </a:solidFill>
                  <a:latin typeface="+mj-lt"/>
                  <a:ea typeface="+mj-ea"/>
                  <a:cs typeface="+mj-cs"/>
                </a:rPr>
                <a:t>And distance: Analytic for operational insights</a:t>
              </a:r>
              <a:endParaRPr lang="en-IN" sz="2800" b="1" dirty="0">
                <a:solidFill>
                  <a:schemeClr val="tx2"/>
                </a:solidFill>
                <a:latin typeface="Montserrat" panose="00000500000000000000" pitchFamily="2" charset="0"/>
              </a:endParaRPr>
            </a:p>
          </p:txBody>
        </p:sp>
        <p:grpSp>
          <p:nvGrpSpPr>
            <p:cNvPr id="17" name="Group 16">
              <a:extLst>
                <a:ext uri="{FF2B5EF4-FFF2-40B4-BE49-F238E27FC236}">
                  <a16:creationId xmlns:a16="http://schemas.microsoft.com/office/drawing/2014/main" id="{CC26773B-B184-6380-BC9D-A20DD818C4AE}"/>
                </a:ext>
              </a:extLst>
            </p:cNvPr>
            <p:cNvGrpSpPr/>
            <p:nvPr/>
          </p:nvGrpSpPr>
          <p:grpSpPr>
            <a:xfrm>
              <a:off x="5937769" y="2593219"/>
              <a:ext cx="6254231" cy="4580228"/>
              <a:chOff x="58608" y="2825282"/>
              <a:chExt cx="6254231" cy="4580228"/>
            </a:xfrm>
          </p:grpSpPr>
          <p:sp>
            <p:nvSpPr>
              <p:cNvPr id="6" name="TextBox 5">
                <a:extLst>
                  <a:ext uri="{FF2B5EF4-FFF2-40B4-BE49-F238E27FC236}">
                    <a16:creationId xmlns:a16="http://schemas.microsoft.com/office/drawing/2014/main" id="{FD92FC59-4888-D1A7-3E96-F22E8AB7AD91}"/>
                  </a:ext>
                </a:extLst>
              </p:cNvPr>
              <p:cNvSpPr txBox="1"/>
              <p:nvPr/>
            </p:nvSpPr>
            <p:spPr>
              <a:xfrm>
                <a:off x="58608" y="2825282"/>
                <a:ext cx="6159496" cy="4580228"/>
              </a:xfrm>
              <a:prstGeom prst="rect">
                <a:avLst/>
              </a:prstGeom>
              <a:noFill/>
            </p:spPr>
            <p:txBody>
              <a:bodyPr wrap="square">
                <a:spAutoFit/>
              </a:bodyPr>
              <a:lstStyle/>
              <a:p>
                <a:pPr indent="-228600">
                  <a:lnSpc>
                    <a:spcPct val="150000"/>
                  </a:lnSpc>
                  <a:buFont typeface="Arial" panose="020B0604020202020204" pitchFamily="34" charset="0"/>
                  <a:buChar char="•"/>
                </a:pPr>
                <a:r>
                  <a:rPr lang="en-US" sz="1400" b="1" dirty="0"/>
                  <a:t>Objective:</a:t>
                </a:r>
                <a:br>
                  <a:rPr lang="en-US" sz="1400" dirty="0"/>
                </a:br>
                <a:r>
                  <a:rPr lang="en-US" sz="1400" dirty="0"/>
                  <a:t>The chart categorizes delivery distances based on average speed ranges (e.g., 0–10 km/h, 10–20 km/h, etc.). </a:t>
                </a:r>
              </a:p>
              <a:p>
                <a:pPr indent="-228600">
                  <a:lnSpc>
                    <a:spcPct val="150000"/>
                  </a:lnSpc>
                  <a:buFont typeface="Arial" panose="020B0604020202020204" pitchFamily="34" charset="0"/>
                  <a:buChar char="•"/>
                </a:pPr>
                <a:r>
                  <a:rPr lang="en-US" sz="1400" b="1" dirty="0"/>
                  <a:t>Scatter Plot:</a:t>
                </a:r>
                <a:br>
                  <a:rPr lang="en-US" sz="1400" dirty="0"/>
                </a:br>
                <a:r>
                  <a:rPr lang="en-US" sz="1400" dirty="0"/>
                  <a:t>Each color represents a different speed range. Distance </a:t>
                </a:r>
                <a:r>
                  <a:rPr lang="en-US" sz="1400" dirty="0" err="1"/>
                  <a:t>Trends:The</a:t>
                </a:r>
                <a:r>
                  <a:rPr lang="en-US" sz="1400" dirty="0"/>
                  <a:t> trend indicates that as the average speed increases, the delivery distances also tend to increase. This suggests that faster deliveries are associated with longer distances, which could point to operational efficiency in certain scenarios.</a:t>
                </a:r>
              </a:p>
              <a:p>
                <a:pPr indent="-228600">
                  <a:lnSpc>
                    <a:spcPct val="150000"/>
                  </a:lnSpc>
                  <a:buFont typeface="Arial" panose="020B0604020202020204" pitchFamily="34" charset="0"/>
                  <a:buChar char="•"/>
                </a:pPr>
                <a:r>
                  <a:rPr lang="en-US" sz="1400" b="1" dirty="0"/>
                  <a:t>Strategic Insight:</a:t>
                </a:r>
                <a:br>
                  <a:rPr lang="en-US" sz="1400" dirty="0"/>
                </a:br>
                <a:r>
                  <a:rPr lang="en-US" sz="1400" dirty="0"/>
                  <a:t>The lustering of delivery distances suggests that specific speed ranges may be associated with varying levels of operational efficiency. Focusing on improving performance in lower speed ranges could lead to substantial gains in the delivery efficiency.</a:t>
                </a:r>
              </a:p>
              <a:p>
                <a:pPr>
                  <a:lnSpc>
                    <a:spcPct val="150000"/>
                  </a:lnSpc>
                </a:pPr>
                <a:endParaRPr lang="en-IN" sz="1400" b="1" dirty="0">
                  <a:solidFill>
                    <a:schemeClr val="tx1">
                      <a:lumMod val="85000"/>
                      <a:lumOff val="15000"/>
                    </a:schemeClr>
                  </a:solidFill>
                  <a:latin typeface="Montserrat" panose="00000500000000000000" pitchFamily="2" charset="0"/>
                </a:endParaRPr>
              </a:p>
            </p:txBody>
          </p:sp>
          <p:sp>
            <p:nvSpPr>
              <p:cNvPr id="10" name="TextBox 9">
                <a:extLst>
                  <a:ext uri="{FF2B5EF4-FFF2-40B4-BE49-F238E27FC236}">
                    <a16:creationId xmlns:a16="http://schemas.microsoft.com/office/drawing/2014/main" id="{5AAD96F5-6F7C-C5FF-4D88-1D7F9F641336}"/>
                  </a:ext>
                </a:extLst>
              </p:cNvPr>
              <p:cNvSpPr txBox="1"/>
              <p:nvPr/>
            </p:nvSpPr>
            <p:spPr>
              <a:xfrm>
                <a:off x="375071" y="5304197"/>
                <a:ext cx="5205628" cy="317587"/>
              </a:xfrm>
              <a:prstGeom prst="rect">
                <a:avLst/>
              </a:prstGeom>
              <a:noFill/>
            </p:spPr>
            <p:txBody>
              <a:bodyPr wrap="square">
                <a:spAutoFit/>
              </a:bodyPr>
              <a:lstStyle/>
              <a:p>
                <a:pPr>
                  <a:lnSpc>
                    <a:spcPct val="150000"/>
                  </a:lnSpc>
                </a:pPr>
                <a:endParaRPr lang="en-IN" sz="1100" dirty="0">
                  <a:solidFill>
                    <a:schemeClr val="tx1">
                      <a:lumMod val="85000"/>
                      <a:lumOff val="15000"/>
                    </a:schemeClr>
                  </a:solidFill>
                  <a:latin typeface="Montserrat" panose="00000500000000000000" pitchFamily="2" charset="0"/>
                </a:endParaRPr>
              </a:p>
            </p:txBody>
          </p:sp>
          <p:sp>
            <p:nvSpPr>
              <p:cNvPr id="15" name="TextBox 14">
                <a:extLst>
                  <a:ext uri="{FF2B5EF4-FFF2-40B4-BE49-F238E27FC236}">
                    <a16:creationId xmlns:a16="http://schemas.microsoft.com/office/drawing/2014/main" id="{08C4A4B3-92F3-354D-CF95-CED62217AD43}"/>
                  </a:ext>
                </a:extLst>
              </p:cNvPr>
              <p:cNvSpPr txBox="1"/>
              <p:nvPr/>
            </p:nvSpPr>
            <p:spPr>
              <a:xfrm>
                <a:off x="535709" y="4861448"/>
                <a:ext cx="5777130" cy="369332"/>
              </a:xfrm>
              <a:prstGeom prst="rect">
                <a:avLst/>
              </a:prstGeom>
              <a:noFill/>
            </p:spPr>
            <p:txBody>
              <a:bodyPr wrap="square">
                <a:spAutoFit/>
              </a:bodyPr>
              <a:lstStyle/>
              <a:p>
                <a:endParaRPr lang="en-IN" b="1" dirty="0">
                  <a:solidFill>
                    <a:schemeClr val="tx1">
                      <a:lumMod val="85000"/>
                      <a:lumOff val="15000"/>
                    </a:schemeClr>
                  </a:solidFill>
                  <a:latin typeface="Montserrat" panose="00000500000000000000" pitchFamily="2" charset="0"/>
                </a:endParaRPr>
              </a:p>
            </p:txBody>
          </p:sp>
          <p:sp>
            <p:nvSpPr>
              <p:cNvPr id="16" name="TextBox 15">
                <a:extLst>
                  <a:ext uri="{FF2B5EF4-FFF2-40B4-BE49-F238E27FC236}">
                    <a16:creationId xmlns:a16="http://schemas.microsoft.com/office/drawing/2014/main" id="{07B40A85-2A10-582F-33F5-0C24B5EA03E2}"/>
                  </a:ext>
                </a:extLst>
              </p:cNvPr>
              <p:cNvSpPr txBox="1"/>
              <p:nvPr/>
            </p:nvSpPr>
            <p:spPr>
              <a:xfrm>
                <a:off x="535709" y="5363995"/>
                <a:ext cx="5205628" cy="317587"/>
              </a:xfrm>
              <a:prstGeom prst="rect">
                <a:avLst/>
              </a:prstGeom>
              <a:noFill/>
            </p:spPr>
            <p:txBody>
              <a:bodyPr wrap="square">
                <a:spAutoFit/>
              </a:bodyPr>
              <a:lstStyle/>
              <a:p>
                <a:pPr>
                  <a:lnSpc>
                    <a:spcPct val="150000"/>
                  </a:lnSpc>
                </a:pPr>
                <a:endParaRPr lang="en-IN" sz="1100" dirty="0">
                  <a:solidFill>
                    <a:schemeClr val="tx1">
                      <a:lumMod val="85000"/>
                      <a:lumOff val="15000"/>
                    </a:schemeClr>
                  </a:solidFill>
                  <a:latin typeface="Montserrat" panose="00000500000000000000" pitchFamily="2" charset="0"/>
                </a:endParaRPr>
              </a:p>
            </p:txBody>
          </p:sp>
        </p:grpSp>
      </p:grpSp>
      <p:sp>
        <p:nvSpPr>
          <p:cNvPr id="19" name="Rectangle 18">
            <a:extLst>
              <a:ext uri="{FF2B5EF4-FFF2-40B4-BE49-F238E27FC236}">
                <a16:creationId xmlns:a16="http://schemas.microsoft.com/office/drawing/2014/main" id="{E7D19F8F-D493-891B-1258-3B90A7E621D2}"/>
              </a:ext>
            </a:extLst>
          </p:cNvPr>
          <p:cNvSpPr/>
          <p:nvPr/>
        </p:nvSpPr>
        <p:spPr>
          <a:xfrm>
            <a:off x="0" y="1"/>
            <a:ext cx="3817677" cy="6857999"/>
          </a:xfrm>
          <a:prstGeom prst="rect">
            <a:avLst/>
          </a:prstGeom>
          <a:gradFill>
            <a:gsLst>
              <a:gs pos="0">
                <a:schemeClr val="bg2"/>
              </a:gs>
              <a:gs pos="100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945AE28B-8DC7-6F12-63FA-CCD6A944ADC7}"/>
              </a:ext>
            </a:extLst>
          </p:cNvPr>
          <p:cNvPicPr>
            <a:picLocks noChangeAspect="1"/>
          </p:cNvPicPr>
          <p:nvPr/>
        </p:nvPicPr>
        <p:blipFill>
          <a:blip r:embed="rId2"/>
          <a:stretch>
            <a:fillRect/>
          </a:stretch>
        </p:blipFill>
        <p:spPr>
          <a:xfrm>
            <a:off x="252632" y="4891336"/>
            <a:ext cx="608000" cy="748306"/>
          </a:xfrm>
          <a:custGeom>
            <a:avLst/>
            <a:gdLst>
              <a:gd name="connsiteX0" fmla="*/ 0 w 1158857"/>
              <a:gd name="connsiteY0" fmla="*/ 0 h 1426285"/>
              <a:gd name="connsiteX1" fmla="*/ 1158857 w 1158857"/>
              <a:gd name="connsiteY1" fmla="*/ 0 h 1426285"/>
              <a:gd name="connsiteX2" fmla="*/ 1158857 w 1158857"/>
              <a:gd name="connsiteY2" fmla="*/ 1426286 h 1426285"/>
              <a:gd name="connsiteX3" fmla="*/ 0 w 1158857"/>
              <a:gd name="connsiteY3" fmla="*/ 1426286 h 1426285"/>
            </a:gdLst>
            <a:ahLst/>
            <a:cxnLst>
              <a:cxn ang="0">
                <a:pos x="connsiteX0" y="connsiteY0"/>
              </a:cxn>
              <a:cxn ang="0">
                <a:pos x="connsiteX1" y="connsiteY1"/>
              </a:cxn>
              <a:cxn ang="0">
                <a:pos x="connsiteX2" y="connsiteY2"/>
              </a:cxn>
              <a:cxn ang="0">
                <a:pos x="connsiteX3" y="connsiteY3"/>
              </a:cxn>
            </a:cxnLst>
            <a:rect l="l" t="t" r="r" b="b"/>
            <a:pathLst>
              <a:path w="1158857" h="1426285">
                <a:moveTo>
                  <a:pt x="0" y="0"/>
                </a:moveTo>
                <a:lnTo>
                  <a:pt x="1158857" y="0"/>
                </a:lnTo>
                <a:lnTo>
                  <a:pt x="1158857" y="1426286"/>
                </a:lnTo>
                <a:lnTo>
                  <a:pt x="0" y="1426286"/>
                </a:lnTo>
                <a:close/>
              </a:path>
            </a:pathLst>
          </a:custGeom>
        </p:spPr>
      </p:pic>
      <p:pic>
        <p:nvPicPr>
          <p:cNvPr id="3" name="Picture 2" descr="upload.wikimedia.org/wikipedia/commons/thumb/a/...">
            <a:extLst>
              <a:ext uri="{FF2B5EF4-FFF2-40B4-BE49-F238E27FC236}">
                <a16:creationId xmlns:a16="http://schemas.microsoft.com/office/drawing/2014/main" id="{3391D6D1-9A3F-05F2-6BC0-4347F29013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8434" y="302812"/>
            <a:ext cx="1120944" cy="33832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A diagram of a delivery distance&#10;&#10;AI-generated content may be incorrect.">
            <a:extLst>
              <a:ext uri="{FF2B5EF4-FFF2-40B4-BE49-F238E27FC236}">
                <a16:creationId xmlns:a16="http://schemas.microsoft.com/office/drawing/2014/main" id="{ADAD3239-E702-0151-C18D-E2569CF197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0996" y="1653041"/>
            <a:ext cx="5263837" cy="3597877"/>
          </a:xfrm>
          <a:prstGeom prst="rect">
            <a:avLst/>
          </a:prstGeom>
        </p:spPr>
      </p:pic>
    </p:spTree>
    <p:extLst>
      <p:ext uri="{BB962C8B-B14F-4D97-AF65-F5344CB8AC3E}">
        <p14:creationId xmlns:p14="http://schemas.microsoft.com/office/powerpoint/2010/main" val="1977426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486D2-2354-9BA2-97EC-2A6468D04618}"/>
            </a:ext>
          </a:extLst>
        </p:cNvPr>
        <p:cNvGrpSpPr/>
        <p:nvPr/>
      </p:nvGrpSpPr>
      <p:grpSpPr>
        <a:xfrm>
          <a:off x="0" y="0"/>
          <a:ext cx="0" cy="0"/>
          <a:chOff x="0" y="0"/>
          <a:chExt cx="0" cy="0"/>
        </a:xfrm>
      </p:grpSpPr>
      <p:grpSp>
        <p:nvGrpSpPr>
          <p:cNvPr id="22" name="Group 21">
            <a:extLst>
              <a:ext uri="{FF2B5EF4-FFF2-40B4-BE49-F238E27FC236}">
                <a16:creationId xmlns:a16="http://schemas.microsoft.com/office/drawing/2014/main" id="{EFAFC8B6-DAF3-5AA8-7849-583F25EE6C87}"/>
              </a:ext>
            </a:extLst>
          </p:cNvPr>
          <p:cNvGrpSpPr/>
          <p:nvPr/>
        </p:nvGrpSpPr>
        <p:grpSpPr>
          <a:xfrm>
            <a:off x="4601998" y="317206"/>
            <a:ext cx="7242831" cy="6363125"/>
            <a:chOff x="5937936" y="1278984"/>
            <a:chExt cx="6159496" cy="6363125"/>
          </a:xfrm>
        </p:grpSpPr>
        <p:sp>
          <p:nvSpPr>
            <p:cNvPr id="4" name="TextBox 3">
              <a:extLst>
                <a:ext uri="{FF2B5EF4-FFF2-40B4-BE49-F238E27FC236}">
                  <a16:creationId xmlns:a16="http://schemas.microsoft.com/office/drawing/2014/main" id="{B3DF8040-81DF-EF91-4139-531AA96DBA80}"/>
                </a:ext>
              </a:extLst>
            </p:cNvPr>
            <p:cNvSpPr txBox="1"/>
            <p:nvPr/>
          </p:nvSpPr>
          <p:spPr>
            <a:xfrm>
              <a:off x="6320135" y="1278984"/>
              <a:ext cx="5682395" cy="1384995"/>
            </a:xfrm>
            <a:prstGeom prst="rect">
              <a:avLst/>
            </a:prstGeom>
            <a:noFill/>
          </p:spPr>
          <p:txBody>
            <a:bodyPr wrap="square">
              <a:spAutoFit/>
            </a:bodyPr>
            <a:lstStyle/>
            <a:p>
              <a:r>
                <a:rPr lang="en-US" sz="2800" b="1" kern="1200" dirty="0">
                  <a:solidFill>
                    <a:schemeClr val="tx2"/>
                  </a:solidFill>
                  <a:latin typeface="+mj-lt"/>
                  <a:ea typeface="+mj-ea"/>
                  <a:cs typeface="+mj-cs"/>
                </a:rPr>
                <a:t>Optimizing Delivery Operations: Key Correlations in Amazon's Performance Metrics</a:t>
              </a:r>
              <a:endParaRPr lang="en-IN" sz="2800" b="1" dirty="0">
                <a:solidFill>
                  <a:schemeClr val="tx2"/>
                </a:solidFill>
                <a:latin typeface="Montserrat" panose="00000500000000000000" pitchFamily="2" charset="0"/>
              </a:endParaRPr>
            </a:p>
          </p:txBody>
        </p:sp>
        <p:sp>
          <p:nvSpPr>
            <p:cNvPr id="6" name="TextBox 5">
              <a:extLst>
                <a:ext uri="{FF2B5EF4-FFF2-40B4-BE49-F238E27FC236}">
                  <a16:creationId xmlns:a16="http://schemas.microsoft.com/office/drawing/2014/main" id="{77C6B00A-9E58-F55A-84B7-94EF5AEA93DD}"/>
                </a:ext>
              </a:extLst>
            </p:cNvPr>
            <p:cNvSpPr txBox="1"/>
            <p:nvPr/>
          </p:nvSpPr>
          <p:spPr>
            <a:xfrm>
              <a:off x="5937936" y="2413177"/>
              <a:ext cx="6159496" cy="5228932"/>
            </a:xfrm>
            <a:prstGeom prst="rect">
              <a:avLst/>
            </a:prstGeom>
            <a:noFill/>
          </p:spPr>
          <p:txBody>
            <a:bodyPr wrap="square">
              <a:spAutoFit/>
            </a:bodyPr>
            <a:lstStyle/>
            <a:p>
              <a:pPr indent="-228600">
                <a:lnSpc>
                  <a:spcPct val="150000"/>
                </a:lnSpc>
                <a:buFont typeface="Arial" panose="020B0604020202020204" pitchFamily="34" charset="0"/>
                <a:buChar char="•"/>
              </a:pPr>
              <a:r>
                <a:rPr lang="en-US" sz="1400" b="1" dirty="0"/>
                <a:t>Objective:</a:t>
              </a:r>
              <a:br>
                <a:rPr lang="en-US" sz="1400" dirty="0"/>
              </a:br>
              <a:r>
                <a:rPr lang="en-US" sz="1400" dirty="0"/>
                <a:t>objective is to analyze the correlations among key delivery performance metrics at Amazon, identifying relationships between delivery time, distance, speed, and agent ratings </a:t>
              </a:r>
            </a:p>
            <a:p>
              <a:pPr indent="-228600">
                <a:lnSpc>
                  <a:spcPct val="150000"/>
                </a:lnSpc>
                <a:buFont typeface="Arial" panose="020B0604020202020204" pitchFamily="34" charset="0"/>
                <a:buChar char="•"/>
              </a:pPr>
              <a:r>
                <a:rPr lang="en-US" sz="1400" b="1" dirty="0"/>
                <a:t>Correlation Matrix:</a:t>
              </a:r>
              <a:br>
                <a:rPr lang="en-US" sz="1400" dirty="0"/>
              </a:br>
              <a:r>
                <a:rPr lang="en-US" sz="1400" dirty="0"/>
                <a:t>Strategic Insight:</a:t>
              </a:r>
            </a:p>
            <a:p>
              <a:pPr indent="-228600">
                <a:lnSpc>
                  <a:spcPct val="150000"/>
                </a:lnSpc>
                <a:buFont typeface="Arial" panose="020B0604020202020204" pitchFamily="34" charset="0"/>
                <a:buChar char="•"/>
              </a:pPr>
              <a:r>
                <a:rPr lang="en-US" sz="1400" dirty="0"/>
                <a:t>The correlation matrix reveals key relationships among delivery performance metrics for Amazon. Delivery Time and Distance </a:t>
              </a:r>
              <a:r>
                <a:rPr lang="en-US" sz="1400" b="1" dirty="0"/>
                <a:t>(0.3</a:t>
              </a:r>
              <a:r>
                <a:rPr lang="en-US" sz="1400" dirty="0"/>
                <a:t>):</a:t>
              </a:r>
            </a:p>
            <a:p>
              <a:pPr indent="-228600">
                <a:lnSpc>
                  <a:spcPct val="150000"/>
                </a:lnSpc>
                <a:buFont typeface="Arial" panose="020B0604020202020204" pitchFamily="34" charset="0"/>
                <a:buChar char="•"/>
              </a:pPr>
              <a:r>
                <a:rPr lang="en-US" sz="1400" dirty="0"/>
                <a:t>A significant negative correlation suggests that higher delivery speeds result in shorter delivery times. </a:t>
              </a:r>
            </a:p>
            <a:p>
              <a:pPr indent="-228600">
                <a:lnSpc>
                  <a:spcPct val="150000"/>
                </a:lnSpc>
                <a:buFont typeface="Arial" panose="020B0604020202020204" pitchFamily="34" charset="0"/>
                <a:buChar char="•"/>
              </a:pPr>
              <a:r>
                <a:rPr lang="en-US" sz="1400" dirty="0"/>
                <a:t>This reinforces the importance of improving speed for operational effectiveness</a:t>
              </a:r>
            </a:p>
            <a:p>
              <a:pPr indent="-228600">
                <a:lnSpc>
                  <a:spcPct val="150000"/>
                </a:lnSpc>
                <a:buFont typeface="Arial" panose="020B0604020202020204" pitchFamily="34" charset="0"/>
                <a:buChar char="•"/>
              </a:pPr>
              <a:r>
                <a:rPr lang="en-US" sz="1400" dirty="0"/>
                <a:t>Agent Rating and Delivery Time </a:t>
              </a:r>
              <a:r>
                <a:rPr lang="en-US" sz="1400" b="1" dirty="0"/>
                <a:t>(-0.31): </a:t>
              </a:r>
              <a:r>
                <a:rPr lang="en-US" sz="1400" dirty="0"/>
                <a:t>The negative correlation indicates that higher agent ratings are associated with shorter delivery times, emphasizing the need for agent training and support to enhance performance.</a:t>
              </a:r>
            </a:p>
            <a:p>
              <a:pPr>
                <a:lnSpc>
                  <a:spcPct val="150000"/>
                </a:lnSpc>
              </a:pPr>
              <a:r>
                <a:rPr lang="en-US" sz="1400" b="1" dirty="0"/>
                <a:t>By leveraging these insights, Amazon can prioritize route optimization, invest in agent development, and focus on improving delivery speeds, ultimately enhancing customer satisfaction and operational efficiency.</a:t>
              </a:r>
              <a:endParaRPr lang="en-IN" sz="1400" b="1" dirty="0">
                <a:solidFill>
                  <a:schemeClr val="tx1">
                    <a:lumMod val="85000"/>
                    <a:lumOff val="15000"/>
                  </a:schemeClr>
                </a:solidFill>
                <a:latin typeface="Montserrat" panose="00000500000000000000" pitchFamily="2" charset="0"/>
              </a:endParaRPr>
            </a:p>
          </p:txBody>
        </p:sp>
      </p:grpSp>
      <p:sp>
        <p:nvSpPr>
          <p:cNvPr id="19" name="Rectangle 18">
            <a:extLst>
              <a:ext uri="{FF2B5EF4-FFF2-40B4-BE49-F238E27FC236}">
                <a16:creationId xmlns:a16="http://schemas.microsoft.com/office/drawing/2014/main" id="{CEEB67A8-AC10-38A9-351E-A621D165B359}"/>
              </a:ext>
            </a:extLst>
          </p:cNvPr>
          <p:cNvSpPr/>
          <p:nvPr/>
        </p:nvSpPr>
        <p:spPr>
          <a:xfrm>
            <a:off x="0" y="1"/>
            <a:ext cx="3817677" cy="6857999"/>
          </a:xfrm>
          <a:prstGeom prst="rect">
            <a:avLst/>
          </a:prstGeom>
          <a:gradFill>
            <a:gsLst>
              <a:gs pos="0">
                <a:schemeClr val="bg2"/>
              </a:gs>
              <a:gs pos="100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5E58F489-251E-9FE0-2F4B-D20BB98F0F4E}"/>
              </a:ext>
            </a:extLst>
          </p:cNvPr>
          <p:cNvPicPr>
            <a:picLocks noChangeAspect="1"/>
          </p:cNvPicPr>
          <p:nvPr/>
        </p:nvPicPr>
        <p:blipFill>
          <a:blip r:embed="rId2"/>
          <a:stretch>
            <a:fillRect/>
          </a:stretch>
        </p:blipFill>
        <p:spPr>
          <a:xfrm>
            <a:off x="252632" y="4891336"/>
            <a:ext cx="608000" cy="748306"/>
          </a:xfrm>
          <a:custGeom>
            <a:avLst/>
            <a:gdLst>
              <a:gd name="connsiteX0" fmla="*/ 0 w 1158857"/>
              <a:gd name="connsiteY0" fmla="*/ 0 h 1426285"/>
              <a:gd name="connsiteX1" fmla="*/ 1158857 w 1158857"/>
              <a:gd name="connsiteY1" fmla="*/ 0 h 1426285"/>
              <a:gd name="connsiteX2" fmla="*/ 1158857 w 1158857"/>
              <a:gd name="connsiteY2" fmla="*/ 1426286 h 1426285"/>
              <a:gd name="connsiteX3" fmla="*/ 0 w 1158857"/>
              <a:gd name="connsiteY3" fmla="*/ 1426286 h 1426285"/>
            </a:gdLst>
            <a:ahLst/>
            <a:cxnLst>
              <a:cxn ang="0">
                <a:pos x="connsiteX0" y="connsiteY0"/>
              </a:cxn>
              <a:cxn ang="0">
                <a:pos x="connsiteX1" y="connsiteY1"/>
              </a:cxn>
              <a:cxn ang="0">
                <a:pos x="connsiteX2" y="connsiteY2"/>
              </a:cxn>
              <a:cxn ang="0">
                <a:pos x="connsiteX3" y="connsiteY3"/>
              </a:cxn>
            </a:cxnLst>
            <a:rect l="l" t="t" r="r" b="b"/>
            <a:pathLst>
              <a:path w="1158857" h="1426285">
                <a:moveTo>
                  <a:pt x="0" y="0"/>
                </a:moveTo>
                <a:lnTo>
                  <a:pt x="1158857" y="0"/>
                </a:lnTo>
                <a:lnTo>
                  <a:pt x="1158857" y="1426286"/>
                </a:lnTo>
                <a:lnTo>
                  <a:pt x="0" y="1426286"/>
                </a:lnTo>
                <a:close/>
              </a:path>
            </a:pathLst>
          </a:custGeom>
        </p:spPr>
      </p:pic>
      <p:pic>
        <p:nvPicPr>
          <p:cNvPr id="3" name="Picture 2" descr="upload.wikimedia.org/wikipedia/commons/thumb/a/...">
            <a:extLst>
              <a:ext uri="{FF2B5EF4-FFF2-40B4-BE49-F238E27FC236}">
                <a16:creationId xmlns:a16="http://schemas.microsoft.com/office/drawing/2014/main" id="{7297AD2E-E875-08F1-8561-BAA25910AB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8434" y="302812"/>
            <a:ext cx="1120944" cy="33832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diagram of a matrix&#10;&#10;AI-generated content may be incorrect.">
            <a:extLst>
              <a:ext uri="{FF2B5EF4-FFF2-40B4-BE49-F238E27FC236}">
                <a16:creationId xmlns:a16="http://schemas.microsoft.com/office/drawing/2014/main" id="{8E770492-6918-9952-5868-686D6A5D57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630" y="1451399"/>
            <a:ext cx="4045170" cy="3712271"/>
          </a:xfrm>
          <a:prstGeom prst="rect">
            <a:avLst/>
          </a:prstGeom>
        </p:spPr>
      </p:pic>
    </p:spTree>
    <p:extLst>
      <p:ext uri="{BB962C8B-B14F-4D97-AF65-F5344CB8AC3E}">
        <p14:creationId xmlns:p14="http://schemas.microsoft.com/office/powerpoint/2010/main" val="3233361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Free photo cropped image of woman inputting card information and key on phone or laptop while shopping online.">
            <a:extLst>
              <a:ext uri="{FF2B5EF4-FFF2-40B4-BE49-F238E27FC236}">
                <a16:creationId xmlns:a16="http://schemas.microsoft.com/office/drawing/2014/main" id="{A0206236-E334-33C5-B4AC-6710D7C085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6199891" cy="3733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872CAEA-AD1C-1F75-B94F-D6E190201413}"/>
              </a:ext>
            </a:extLst>
          </p:cNvPr>
          <p:cNvSpPr txBox="1"/>
          <p:nvPr/>
        </p:nvSpPr>
        <p:spPr>
          <a:xfrm>
            <a:off x="6823318" y="994295"/>
            <a:ext cx="5291665" cy="1446550"/>
          </a:xfrm>
          <a:prstGeom prst="rect">
            <a:avLst/>
          </a:prstGeom>
          <a:noFill/>
        </p:spPr>
        <p:txBody>
          <a:bodyPr wrap="square">
            <a:spAutoFit/>
          </a:bodyPr>
          <a:lstStyle/>
          <a:p>
            <a:r>
              <a:rPr lang="en-CA" sz="4400" dirty="0">
                <a:solidFill>
                  <a:schemeClr val="tx2"/>
                </a:solidFill>
              </a:rPr>
              <a:t>Hypothesis Test  (Weather Impact)</a:t>
            </a:r>
            <a:endParaRPr lang="en-IN" sz="2800" dirty="0">
              <a:solidFill>
                <a:schemeClr val="tx2"/>
              </a:solidFill>
              <a:latin typeface="Montserrat" panose="00000500000000000000" pitchFamily="2" charset="0"/>
            </a:endParaRPr>
          </a:p>
        </p:txBody>
      </p:sp>
      <p:grpSp>
        <p:nvGrpSpPr>
          <p:cNvPr id="18" name="Group 17">
            <a:extLst>
              <a:ext uri="{FF2B5EF4-FFF2-40B4-BE49-F238E27FC236}">
                <a16:creationId xmlns:a16="http://schemas.microsoft.com/office/drawing/2014/main" id="{2C67C388-9B55-E29E-3822-195538818A5E}"/>
              </a:ext>
            </a:extLst>
          </p:cNvPr>
          <p:cNvGrpSpPr/>
          <p:nvPr/>
        </p:nvGrpSpPr>
        <p:grpSpPr>
          <a:xfrm>
            <a:off x="1048894" y="2535427"/>
            <a:ext cx="10867940" cy="3050453"/>
            <a:chOff x="1048894" y="2535427"/>
            <a:chExt cx="10867940" cy="3050453"/>
          </a:xfrm>
        </p:grpSpPr>
        <p:grpSp>
          <p:nvGrpSpPr>
            <p:cNvPr id="17" name="Group 16">
              <a:extLst>
                <a:ext uri="{FF2B5EF4-FFF2-40B4-BE49-F238E27FC236}">
                  <a16:creationId xmlns:a16="http://schemas.microsoft.com/office/drawing/2014/main" id="{73DB2874-44B7-EF52-0E84-AD3C6473C150}"/>
                </a:ext>
              </a:extLst>
            </p:cNvPr>
            <p:cNvGrpSpPr/>
            <p:nvPr/>
          </p:nvGrpSpPr>
          <p:grpSpPr>
            <a:xfrm>
              <a:off x="1048894" y="2794000"/>
              <a:ext cx="10867940" cy="2791880"/>
              <a:chOff x="1048894" y="2794000"/>
              <a:chExt cx="10867940" cy="2791880"/>
            </a:xfrm>
          </p:grpSpPr>
          <p:sp>
            <p:nvSpPr>
              <p:cNvPr id="4" name="Rectangle 3">
                <a:extLst>
                  <a:ext uri="{FF2B5EF4-FFF2-40B4-BE49-F238E27FC236}">
                    <a16:creationId xmlns:a16="http://schemas.microsoft.com/office/drawing/2014/main" id="{E1DF317E-8543-62A2-4E0B-0C6F100801F8}"/>
                  </a:ext>
                </a:extLst>
              </p:cNvPr>
              <p:cNvSpPr/>
              <p:nvPr/>
            </p:nvSpPr>
            <p:spPr>
              <a:xfrm>
                <a:off x="4765761" y="2794000"/>
                <a:ext cx="3434206" cy="2767195"/>
              </a:xfrm>
              <a:prstGeom prst="rect">
                <a:avLst/>
              </a:prstGeom>
              <a:solidFill>
                <a:schemeClr val="bg1"/>
              </a:solidFill>
              <a:ln w="10367" cap="flat">
                <a:noFill/>
                <a:prstDash val="solid"/>
                <a:miter/>
              </a:ln>
              <a:effectLst>
                <a:outerShdw blurRad="63500" sx="102000" sy="102000" algn="ctr" rotWithShape="0">
                  <a:prstClr val="black">
                    <a:alpha val="8000"/>
                  </a:prstClr>
                </a:outerShdw>
              </a:effectLst>
            </p:spPr>
            <p:txBody>
              <a:bodyPr rtlCol="0" anchor="ctr"/>
              <a:lstStyle/>
              <a:p>
                <a:pPr algn="ctr"/>
                <a:endParaRPr lang="en-IN">
                  <a:solidFill>
                    <a:schemeClr val="tx1"/>
                  </a:solidFill>
                </a:endParaRPr>
              </a:p>
            </p:txBody>
          </p:sp>
          <p:sp>
            <p:nvSpPr>
              <p:cNvPr id="5" name="Rectangle 4">
                <a:extLst>
                  <a:ext uri="{FF2B5EF4-FFF2-40B4-BE49-F238E27FC236}">
                    <a16:creationId xmlns:a16="http://schemas.microsoft.com/office/drawing/2014/main" id="{211C38B5-A0F0-5888-DFCF-9D3C71D3653C}"/>
                  </a:ext>
                </a:extLst>
              </p:cNvPr>
              <p:cNvSpPr/>
              <p:nvPr/>
            </p:nvSpPr>
            <p:spPr>
              <a:xfrm>
                <a:off x="8482628" y="2794000"/>
                <a:ext cx="3434206" cy="2767195"/>
              </a:xfrm>
              <a:prstGeom prst="rect">
                <a:avLst/>
              </a:prstGeom>
              <a:solidFill>
                <a:schemeClr val="bg1"/>
              </a:solidFill>
              <a:ln w="10367" cap="flat">
                <a:noFill/>
                <a:prstDash val="solid"/>
                <a:miter/>
              </a:ln>
              <a:effectLst>
                <a:outerShdw blurRad="63500" sx="102000" sy="102000" algn="ctr" rotWithShape="0">
                  <a:prstClr val="black">
                    <a:alpha val="8000"/>
                  </a:prstClr>
                </a:outerShdw>
              </a:effectLst>
            </p:spPr>
            <p:txBody>
              <a:bodyPr rtlCol="0" anchor="ctr"/>
              <a:lstStyle/>
              <a:p>
                <a:pPr algn="ctr"/>
                <a:endParaRPr lang="en-IN">
                  <a:solidFill>
                    <a:schemeClr val="tx1"/>
                  </a:solidFill>
                </a:endParaRPr>
              </a:p>
            </p:txBody>
          </p:sp>
          <p:grpSp>
            <p:nvGrpSpPr>
              <p:cNvPr id="7" name="Group 6">
                <a:extLst>
                  <a:ext uri="{FF2B5EF4-FFF2-40B4-BE49-F238E27FC236}">
                    <a16:creationId xmlns:a16="http://schemas.microsoft.com/office/drawing/2014/main" id="{8F5709D2-DB34-C1E8-4605-F78B5A46792A}"/>
                  </a:ext>
                </a:extLst>
              </p:cNvPr>
              <p:cNvGrpSpPr/>
              <p:nvPr/>
            </p:nvGrpSpPr>
            <p:grpSpPr>
              <a:xfrm>
                <a:off x="1048894" y="2794000"/>
                <a:ext cx="10785198" cy="2791880"/>
                <a:chOff x="1048894" y="2794000"/>
                <a:chExt cx="10785198" cy="2791880"/>
              </a:xfrm>
            </p:grpSpPr>
            <p:sp>
              <p:nvSpPr>
                <p:cNvPr id="3" name="Rectangle 2">
                  <a:extLst>
                    <a:ext uri="{FF2B5EF4-FFF2-40B4-BE49-F238E27FC236}">
                      <a16:creationId xmlns:a16="http://schemas.microsoft.com/office/drawing/2014/main" id="{0BA5368B-7635-1D95-ED1C-68E0761CE779}"/>
                    </a:ext>
                  </a:extLst>
                </p:cNvPr>
                <p:cNvSpPr/>
                <p:nvPr/>
              </p:nvSpPr>
              <p:spPr>
                <a:xfrm>
                  <a:off x="1048894" y="2794000"/>
                  <a:ext cx="3434206" cy="2767195"/>
                </a:xfrm>
                <a:prstGeom prst="rect">
                  <a:avLst/>
                </a:prstGeom>
                <a:solidFill>
                  <a:schemeClr val="bg1"/>
                </a:solidFill>
                <a:ln w="10367" cap="flat">
                  <a:noFill/>
                  <a:prstDash val="solid"/>
                  <a:miter/>
                </a:ln>
                <a:effectLst>
                  <a:outerShdw blurRad="63500" sx="102000" sy="102000" algn="ctr" rotWithShape="0">
                    <a:prstClr val="black">
                      <a:alpha val="8000"/>
                    </a:prstClr>
                  </a:outerShdw>
                </a:effectLst>
              </p:spPr>
              <p:txBody>
                <a:bodyPr rtlCol="0" anchor="ctr"/>
                <a:lstStyle/>
                <a:p>
                  <a:pPr algn="ctr"/>
                  <a:endParaRPr lang="en-IN" dirty="0">
                    <a:solidFill>
                      <a:schemeClr val="tx1"/>
                    </a:solidFill>
                  </a:endParaRPr>
                </a:p>
              </p:txBody>
            </p:sp>
            <p:sp>
              <p:nvSpPr>
                <p:cNvPr id="8" name="TextBox 7">
                  <a:extLst>
                    <a:ext uri="{FF2B5EF4-FFF2-40B4-BE49-F238E27FC236}">
                      <a16:creationId xmlns:a16="http://schemas.microsoft.com/office/drawing/2014/main" id="{ABD6C67C-990C-8109-5369-AC9D31E8FDA8}"/>
                    </a:ext>
                  </a:extLst>
                </p:cNvPr>
                <p:cNvSpPr txBox="1"/>
                <p:nvPr/>
              </p:nvSpPr>
              <p:spPr>
                <a:xfrm>
                  <a:off x="1060437" y="3562203"/>
                  <a:ext cx="3379253" cy="1997919"/>
                </a:xfrm>
                <a:prstGeom prst="rect">
                  <a:avLst/>
                </a:prstGeom>
                <a:noFill/>
              </p:spPr>
              <p:txBody>
                <a:bodyPr wrap="square">
                  <a:spAutoFit/>
                </a:bodyPr>
                <a:lstStyle/>
                <a:p>
                  <a:pPr>
                    <a:lnSpc>
                      <a:spcPct val="150000"/>
                    </a:lnSpc>
                  </a:pPr>
                  <a:r>
                    <a:rPr lang="en-CA" sz="1400" b="1" dirty="0"/>
                    <a:t>Hypotheses:</a:t>
                  </a:r>
                  <a:endParaRPr lang="en-US" sz="1400" dirty="0"/>
                </a:p>
                <a:p>
                  <a:pPr lvl="0">
                    <a:lnSpc>
                      <a:spcPct val="150000"/>
                    </a:lnSpc>
                  </a:pPr>
                  <a:r>
                    <a:rPr lang="en-CA" sz="1400" b="1" dirty="0"/>
                    <a:t>Null (H₀):</a:t>
                  </a:r>
                  <a:r>
                    <a:rPr lang="en-CA" sz="1400" dirty="0"/>
                    <a:t> No significant difference in average delivery time under normal vs. bad weather.</a:t>
                  </a:r>
                  <a:endParaRPr lang="en-US" sz="1400" dirty="0"/>
                </a:p>
                <a:p>
                  <a:pPr lvl="0">
                    <a:lnSpc>
                      <a:spcPct val="150000"/>
                    </a:lnSpc>
                  </a:pPr>
                  <a:r>
                    <a:rPr lang="en-CA" sz="1400" b="1" dirty="0"/>
                    <a:t>Alternative (H₁):</a:t>
                  </a:r>
                  <a:r>
                    <a:rPr lang="en-CA" sz="1400" dirty="0"/>
                    <a:t> Average delivery time is significantly higher during bad weather.</a:t>
                  </a:r>
                  <a:endParaRPr lang="en-US" sz="1400" dirty="0"/>
                </a:p>
              </p:txBody>
            </p:sp>
            <p:sp>
              <p:nvSpPr>
                <p:cNvPr id="9" name="TextBox 8">
                  <a:extLst>
                    <a:ext uri="{FF2B5EF4-FFF2-40B4-BE49-F238E27FC236}">
                      <a16:creationId xmlns:a16="http://schemas.microsoft.com/office/drawing/2014/main" id="{3ACF0687-730F-22E0-CCE3-9F0B3E479B0B}"/>
                    </a:ext>
                  </a:extLst>
                </p:cNvPr>
                <p:cNvSpPr txBox="1"/>
                <p:nvPr/>
              </p:nvSpPr>
              <p:spPr>
                <a:xfrm>
                  <a:off x="4792924" y="3515647"/>
                  <a:ext cx="3379253" cy="1997919"/>
                </a:xfrm>
                <a:prstGeom prst="rect">
                  <a:avLst/>
                </a:prstGeom>
                <a:noFill/>
              </p:spPr>
              <p:txBody>
                <a:bodyPr wrap="square">
                  <a:spAutoFit/>
                </a:bodyPr>
                <a:lstStyle/>
                <a:p>
                  <a:pPr>
                    <a:lnSpc>
                      <a:spcPct val="150000"/>
                    </a:lnSpc>
                  </a:pPr>
                  <a:r>
                    <a:rPr lang="en-CA" sz="1400" b="1" dirty="0"/>
                    <a:t>Test Selection:</a:t>
                  </a:r>
                  <a:endParaRPr lang="en-US" sz="1400" dirty="0"/>
                </a:p>
                <a:p>
                  <a:pPr lvl="0">
                    <a:lnSpc>
                      <a:spcPct val="150000"/>
                    </a:lnSpc>
                  </a:pPr>
                  <a:r>
                    <a:rPr lang="en-CA" sz="1400" dirty="0"/>
                    <a:t>Delivery time data is </a:t>
                  </a:r>
                  <a:r>
                    <a:rPr lang="en-CA" sz="1400" b="1" dirty="0"/>
                    <a:t>not normally distributed</a:t>
                  </a:r>
                  <a:r>
                    <a:rPr lang="en-CA" sz="1400" dirty="0"/>
                    <a:t> (Shapiro-Wilk, p &lt; .05).</a:t>
                  </a:r>
                  <a:endParaRPr lang="en-US" sz="1400" dirty="0"/>
                </a:p>
                <a:p>
                  <a:pPr lvl="0">
                    <a:lnSpc>
                      <a:spcPct val="150000"/>
                    </a:lnSpc>
                  </a:pPr>
                  <a:r>
                    <a:rPr lang="en-CA" sz="1400" b="1" dirty="0"/>
                    <a:t>Variance is unequal</a:t>
                  </a:r>
                  <a:r>
                    <a:rPr lang="en-CA" sz="1400" dirty="0"/>
                    <a:t> (Levene’s, p &lt; .05).</a:t>
                  </a:r>
                  <a:endParaRPr lang="en-US" sz="1400" dirty="0"/>
                </a:p>
                <a:p>
                  <a:pPr lvl="0">
                    <a:lnSpc>
                      <a:spcPct val="150000"/>
                    </a:lnSpc>
                  </a:pPr>
                  <a:r>
                    <a:rPr lang="en-CA" sz="1400" dirty="0"/>
                    <a:t>Used </a:t>
                  </a:r>
                  <a:r>
                    <a:rPr lang="en-CA" sz="1400" b="1" dirty="0"/>
                    <a:t>Mann-Whitney U test</a:t>
                  </a:r>
                  <a:r>
                    <a:rPr lang="en-CA" sz="1400" dirty="0"/>
                    <a:t> (nonparametric) to compare groups.</a:t>
                  </a:r>
                  <a:endParaRPr lang="en-US" sz="1400" dirty="0"/>
                </a:p>
              </p:txBody>
            </p:sp>
            <p:sp>
              <p:nvSpPr>
                <p:cNvPr id="10" name="TextBox 9">
                  <a:extLst>
                    <a:ext uri="{FF2B5EF4-FFF2-40B4-BE49-F238E27FC236}">
                      <a16:creationId xmlns:a16="http://schemas.microsoft.com/office/drawing/2014/main" id="{AE2B6B2F-F23D-5EA6-4BE4-2F4821528F12}"/>
                    </a:ext>
                  </a:extLst>
                </p:cNvPr>
                <p:cNvSpPr txBox="1"/>
                <p:nvPr/>
              </p:nvSpPr>
              <p:spPr>
                <a:xfrm>
                  <a:off x="8454839" y="2941630"/>
                  <a:ext cx="3379253" cy="2644250"/>
                </a:xfrm>
                <a:prstGeom prst="rect">
                  <a:avLst/>
                </a:prstGeom>
                <a:noFill/>
              </p:spPr>
              <p:txBody>
                <a:bodyPr wrap="square">
                  <a:spAutoFit/>
                </a:bodyPr>
                <a:lstStyle/>
                <a:p>
                  <a:pPr>
                    <a:lnSpc>
                      <a:spcPct val="150000"/>
                    </a:lnSpc>
                  </a:pPr>
                  <a:r>
                    <a:rPr lang="en-CA" sz="1400" b="1" dirty="0"/>
                    <a:t>Procedure &amp; Results:</a:t>
                  </a:r>
                  <a:endParaRPr lang="en-US" sz="1400" dirty="0"/>
                </a:p>
                <a:p>
                  <a:pPr lvl="0">
                    <a:lnSpc>
                      <a:spcPct val="150000"/>
                    </a:lnSpc>
                  </a:pPr>
                  <a:r>
                    <a:rPr lang="en-CA" sz="1400" b="1" dirty="0"/>
                    <a:t>Normal Weather:</a:t>
                  </a:r>
                  <a:r>
                    <a:rPr lang="en-CA" sz="1400" dirty="0"/>
                    <a:t> ‘Clear’, ‘Sunny’ (</a:t>
                  </a:r>
                  <a:r>
                    <a:rPr lang="en-CA" sz="1400" i="1" dirty="0"/>
                    <a:t>n</a:t>
                  </a:r>
                  <a:r>
                    <a:rPr lang="en-CA" sz="1400" dirty="0"/>
                    <a:t> = 7,078), Mean = 103.66 min</a:t>
                  </a:r>
                  <a:endParaRPr lang="en-US" sz="1400" dirty="0"/>
                </a:p>
                <a:p>
                  <a:pPr lvl="0">
                    <a:lnSpc>
                      <a:spcPct val="150000"/>
                    </a:lnSpc>
                  </a:pPr>
                  <a:r>
                    <a:rPr lang="en-CA" sz="1400" b="1" dirty="0"/>
                    <a:t>Adverse Weather:</a:t>
                  </a:r>
                  <a:r>
                    <a:rPr lang="en-CA" sz="1400" dirty="0"/>
                    <a:t> All other conditions (</a:t>
                  </a:r>
                  <a:r>
                    <a:rPr lang="en-CA" sz="1400" i="1" dirty="0"/>
                    <a:t>n</a:t>
                  </a:r>
                  <a:r>
                    <a:rPr lang="en-CA" sz="1400" dirty="0"/>
                    <a:t> = 36,661), Mean = 129.01 min</a:t>
                  </a:r>
                  <a:endParaRPr lang="en-US" sz="1400" dirty="0"/>
                </a:p>
                <a:p>
                  <a:pPr lvl="0">
                    <a:lnSpc>
                      <a:spcPct val="150000"/>
                    </a:lnSpc>
                  </a:pPr>
                  <a:r>
                    <a:rPr lang="en-CA" sz="1400" b="1" dirty="0"/>
                    <a:t>Mean difference:</a:t>
                  </a:r>
                  <a:r>
                    <a:rPr lang="en-CA" sz="1400" dirty="0"/>
                    <a:t> +25.34 min</a:t>
                  </a:r>
                  <a:endParaRPr lang="en-US" sz="1400" dirty="0"/>
                </a:p>
                <a:p>
                  <a:pPr lvl="0">
                    <a:lnSpc>
                      <a:spcPct val="150000"/>
                    </a:lnSpc>
                  </a:pPr>
                  <a:r>
                    <a:rPr lang="en-CA" sz="1400" b="1" dirty="0"/>
                    <a:t>Mann-Whitney U:</a:t>
                  </a:r>
                  <a:r>
                    <a:rPr lang="en-CA" sz="1400" dirty="0"/>
                    <a:t> U = 89,196,435, </a:t>
                  </a:r>
                  <a:r>
                    <a:rPr lang="en-CA" sz="1400" b="1" dirty="0"/>
                    <a:t>p &lt; 0.001</a:t>
                  </a:r>
                  <a:endParaRPr lang="en-US" sz="1400" dirty="0"/>
                </a:p>
              </p:txBody>
            </p:sp>
          </p:grpSp>
        </p:grpSp>
        <p:grpSp>
          <p:nvGrpSpPr>
            <p:cNvPr id="16" name="Group 15">
              <a:extLst>
                <a:ext uri="{FF2B5EF4-FFF2-40B4-BE49-F238E27FC236}">
                  <a16:creationId xmlns:a16="http://schemas.microsoft.com/office/drawing/2014/main" id="{D7308944-9D33-C1D0-AEF0-3A5CC48B2D0A}"/>
                </a:ext>
              </a:extLst>
            </p:cNvPr>
            <p:cNvGrpSpPr/>
            <p:nvPr/>
          </p:nvGrpSpPr>
          <p:grpSpPr>
            <a:xfrm>
              <a:off x="2434818" y="2535427"/>
              <a:ext cx="8159291" cy="661732"/>
              <a:chOff x="2434818" y="2535427"/>
              <a:chExt cx="8159291" cy="661732"/>
            </a:xfrm>
          </p:grpSpPr>
          <p:sp>
            <p:nvSpPr>
              <p:cNvPr id="11" name="Oval 10">
                <a:extLst>
                  <a:ext uri="{FF2B5EF4-FFF2-40B4-BE49-F238E27FC236}">
                    <a16:creationId xmlns:a16="http://schemas.microsoft.com/office/drawing/2014/main" id="{523F1C8F-ADE4-7DDB-F960-568F4AC00342}"/>
                  </a:ext>
                </a:extLst>
              </p:cNvPr>
              <p:cNvSpPr/>
              <p:nvPr/>
            </p:nvSpPr>
            <p:spPr>
              <a:xfrm>
                <a:off x="2434818" y="2535427"/>
                <a:ext cx="661732" cy="661732"/>
              </a:xfrm>
              <a:prstGeom prst="ellipse">
                <a:avLst/>
              </a:prstGeom>
              <a:gradFill>
                <a:gsLst>
                  <a:gs pos="0">
                    <a:schemeClr val="tx2"/>
                  </a:gs>
                  <a:gs pos="100000">
                    <a:schemeClr val="bg2">
                      <a:lumMod val="75000"/>
                    </a:schemeClr>
                  </a:gs>
                </a:gsLst>
                <a:lin ang="5400000" scaled="1"/>
              </a:gradFill>
              <a:ln w="10367" cap="flat">
                <a:noFill/>
                <a:prstDash val="solid"/>
                <a:miter/>
              </a:ln>
              <a:effectLst>
                <a:outerShdw blurRad="63500" sx="102000" sy="102000" algn="ctr" rotWithShape="0">
                  <a:prstClr val="black">
                    <a:alpha val="8000"/>
                  </a:prstClr>
                </a:outerShdw>
              </a:effectLst>
            </p:spPr>
            <p:txBody>
              <a:bodyPr rtlCol="0" anchor="ctr"/>
              <a:lstStyle/>
              <a:p>
                <a:pPr algn="ctr"/>
                <a:r>
                  <a:rPr lang="en-US" sz="1600" b="1" dirty="0">
                    <a:solidFill>
                      <a:schemeClr val="bg1"/>
                    </a:solidFill>
                    <a:latin typeface="Montserrat" panose="00000500000000000000" pitchFamily="2" charset="0"/>
                  </a:rPr>
                  <a:t>01</a:t>
                </a:r>
                <a:endParaRPr lang="en-IN" sz="1600" b="1" dirty="0">
                  <a:solidFill>
                    <a:schemeClr val="bg1"/>
                  </a:solidFill>
                  <a:latin typeface="Montserrat" panose="00000500000000000000" pitchFamily="2" charset="0"/>
                </a:endParaRPr>
              </a:p>
            </p:txBody>
          </p:sp>
          <p:sp>
            <p:nvSpPr>
              <p:cNvPr id="12" name="Oval 11">
                <a:extLst>
                  <a:ext uri="{FF2B5EF4-FFF2-40B4-BE49-F238E27FC236}">
                    <a16:creationId xmlns:a16="http://schemas.microsoft.com/office/drawing/2014/main" id="{12969079-0141-E4C2-E933-1E5EA8FFB881}"/>
                  </a:ext>
                </a:extLst>
              </p:cNvPr>
              <p:cNvSpPr/>
              <p:nvPr/>
            </p:nvSpPr>
            <p:spPr>
              <a:xfrm>
                <a:off x="6151685" y="2535427"/>
                <a:ext cx="661732" cy="661732"/>
              </a:xfrm>
              <a:prstGeom prst="ellipse">
                <a:avLst/>
              </a:prstGeom>
              <a:gradFill>
                <a:gsLst>
                  <a:gs pos="0">
                    <a:schemeClr val="tx2"/>
                  </a:gs>
                  <a:gs pos="100000">
                    <a:schemeClr val="bg2">
                      <a:lumMod val="75000"/>
                    </a:schemeClr>
                  </a:gs>
                </a:gsLst>
                <a:lin ang="5400000" scaled="1"/>
              </a:gradFill>
              <a:ln w="10367" cap="flat">
                <a:noFill/>
                <a:prstDash val="solid"/>
                <a:miter/>
              </a:ln>
              <a:effectLst>
                <a:outerShdw blurRad="63500" sx="102000" sy="102000" algn="ctr" rotWithShape="0">
                  <a:prstClr val="black">
                    <a:alpha val="8000"/>
                  </a:prstClr>
                </a:outerShdw>
              </a:effectLst>
            </p:spPr>
            <p:txBody>
              <a:bodyPr rtlCol="0" anchor="ctr"/>
              <a:lstStyle/>
              <a:p>
                <a:pPr algn="ctr"/>
                <a:r>
                  <a:rPr lang="en-US" sz="1600" b="1" dirty="0">
                    <a:solidFill>
                      <a:schemeClr val="bg1"/>
                    </a:solidFill>
                    <a:latin typeface="Montserrat" panose="00000500000000000000" pitchFamily="2" charset="0"/>
                  </a:rPr>
                  <a:t>02</a:t>
                </a:r>
                <a:endParaRPr lang="en-IN" sz="1600" b="1" dirty="0">
                  <a:solidFill>
                    <a:schemeClr val="bg1"/>
                  </a:solidFill>
                  <a:latin typeface="Montserrat" panose="00000500000000000000" pitchFamily="2" charset="0"/>
                </a:endParaRPr>
              </a:p>
            </p:txBody>
          </p:sp>
          <p:sp>
            <p:nvSpPr>
              <p:cNvPr id="15" name="Oval 14">
                <a:extLst>
                  <a:ext uri="{FF2B5EF4-FFF2-40B4-BE49-F238E27FC236}">
                    <a16:creationId xmlns:a16="http://schemas.microsoft.com/office/drawing/2014/main" id="{89CA9141-BD8B-EE85-9F9E-4B664EA89465}"/>
                  </a:ext>
                </a:extLst>
              </p:cNvPr>
              <p:cNvSpPr/>
              <p:nvPr/>
            </p:nvSpPr>
            <p:spPr>
              <a:xfrm>
                <a:off x="9932377" y="2535427"/>
                <a:ext cx="661732" cy="661732"/>
              </a:xfrm>
              <a:prstGeom prst="ellipse">
                <a:avLst/>
              </a:prstGeom>
              <a:gradFill>
                <a:gsLst>
                  <a:gs pos="0">
                    <a:schemeClr val="tx2"/>
                  </a:gs>
                  <a:gs pos="100000">
                    <a:schemeClr val="bg2">
                      <a:lumMod val="75000"/>
                    </a:schemeClr>
                  </a:gs>
                </a:gsLst>
                <a:lin ang="5400000" scaled="1"/>
              </a:gradFill>
              <a:ln w="10367" cap="flat">
                <a:noFill/>
                <a:prstDash val="solid"/>
                <a:miter/>
              </a:ln>
              <a:effectLst>
                <a:outerShdw blurRad="63500" sx="102000" sy="102000" algn="ctr" rotWithShape="0">
                  <a:prstClr val="black">
                    <a:alpha val="8000"/>
                  </a:prstClr>
                </a:outerShdw>
              </a:effectLst>
            </p:spPr>
            <p:txBody>
              <a:bodyPr rtlCol="0" anchor="ctr"/>
              <a:lstStyle/>
              <a:p>
                <a:pPr algn="ctr"/>
                <a:r>
                  <a:rPr lang="en-US" sz="1600" b="1" dirty="0">
                    <a:solidFill>
                      <a:schemeClr val="bg1"/>
                    </a:solidFill>
                    <a:latin typeface="Montserrat" panose="00000500000000000000" pitchFamily="2" charset="0"/>
                  </a:rPr>
                  <a:t>03</a:t>
                </a:r>
                <a:endParaRPr lang="en-IN" sz="1600" b="1" dirty="0">
                  <a:solidFill>
                    <a:schemeClr val="bg1"/>
                  </a:solidFill>
                  <a:latin typeface="Montserrat" panose="00000500000000000000" pitchFamily="2" charset="0"/>
                </a:endParaRPr>
              </a:p>
            </p:txBody>
          </p:sp>
        </p:grpSp>
      </p:grpSp>
      <p:pic>
        <p:nvPicPr>
          <p:cNvPr id="13" name="Picture 2" descr="upload.wikimedia.org/wikipedia/commons/thumb/a/...">
            <a:extLst>
              <a:ext uri="{FF2B5EF4-FFF2-40B4-BE49-F238E27FC236}">
                <a16:creationId xmlns:a16="http://schemas.microsoft.com/office/drawing/2014/main" id="{042199BF-255E-C954-86E6-DCA019FA72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8434" y="302812"/>
            <a:ext cx="1120944" cy="33832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B11C9FE-EF3A-19C4-C5F3-3698FE7C8BCD}"/>
              </a:ext>
            </a:extLst>
          </p:cNvPr>
          <p:cNvSpPr txBox="1"/>
          <p:nvPr/>
        </p:nvSpPr>
        <p:spPr>
          <a:xfrm>
            <a:off x="2464735" y="5949441"/>
            <a:ext cx="8129374" cy="646331"/>
          </a:xfrm>
          <a:prstGeom prst="rect">
            <a:avLst/>
          </a:prstGeom>
          <a:noFill/>
        </p:spPr>
        <p:txBody>
          <a:bodyPr wrap="square" rtlCol="0">
            <a:spAutoFit/>
          </a:bodyPr>
          <a:lstStyle/>
          <a:p>
            <a:r>
              <a:rPr lang="en-CA" b="1" dirty="0"/>
              <a:t>Reject H₀:</a:t>
            </a:r>
            <a:r>
              <a:rPr lang="en-US" b="1" dirty="0"/>
              <a:t>  </a:t>
            </a:r>
            <a:r>
              <a:rPr lang="en-CA" dirty="0"/>
              <a:t>Average delivery time is </a:t>
            </a:r>
            <a:r>
              <a:rPr lang="en-CA" b="1" dirty="0"/>
              <a:t>significantly higher</a:t>
            </a:r>
            <a:r>
              <a:rPr lang="en-CA" dirty="0"/>
              <a:t> during bad weather</a:t>
            </a:r>
            <a:endParaRPr lang="en-US" dirty="0"/>
          </a:p>
          <a:p>
            <a:endParaRPr lang="en-US" dirty="0"/>
          </a:p>
        </p:txBody>
      </p:sp>
    </p:spTree>
    <p:extLst>
      <p:ext uri="{BB962C8B-B14F-4D97-AF65-F5344CB8AC3E}">
        <p14:creationId xmlns:p14="http://schemas.microsoft.com/office/powerpoint/2010/main" val="2108762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8950AD4C-6AF3-49F8-94E1-DBCAFB394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Meiryo"/>
            </a:endParaRPr>
          </a:p>
        </p:txBody>
      </p:sp>
      <p:sp>
        <p:nvSpPr>
          <p:cNvPr id="33" name="Freeform: Shape 32">
            <a:extLst>
              <a:ext uri="{FF2B5EF4-FFF2-40B4-BE49-F238E27FC236}">
                <a16:creationId xmlns:a16="http://schemas.microsoft.com/office/drawing/2014/main" id="{0ACBD85E-A404-45CB-B532-1039E479D4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DB1626B1-BAC7-4893-A5AC-620597685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43" name="Freeform: Shape 36">
            <a:extLst>
              <a:ext uri="{FF2B5EF4-FFF2-40B4-BE49-F238E27FC236}">
                <a16:creationId xmlns:a16="http://schemas.microsoft.com/office/drawing/2014/main" id="{D64E9910-51FE-45BF-973D-9D2401FD3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3" descr="A diagram of a box plot&#10;&#10;Description automatically generated">
            <a:extLst>
              <a:ext uri="{FF2B5EF4-FFF2-40B4-BE49-F238E27FC236}">
                <a16:creationId xmlns:a16="http://schemas.microsoft.com/office/drawing/2014/main" id="{F63528F7-499F-522B-53D2-30C8BC526D0F}"/>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tretch>
            <a:fillRect/>
          </a:stretch>
        </p:blipFill>
        <p:spPr bwMode="auto">
          <a:xfrm>
            <a:off x="6256867" y="1269985"/>
            <a:ext cx="4094960" cy="3060982"/>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480A6A61-FF9C-F0BA-C548-67A26320AD28}"/>
              </a:ext>
            </a:extLst>
          </p:cNvPr>
          <p:cNvSpPr/>
          <p:nvPr/>
        </p:nvSpPr>
        <p:spPr>
          <a:xfrm>
            <a:off x="0" y="6718300"/>
            <a:ext cx="12192000" cy="139700"/>
          </a:xfrm>
          <a:prstGeom prst="rect">
            <a:avLst/>
          </a:prstGeom>
          <a:gradFill>
            <a:gsLst>
              <a:gs pos="100000">
                <a:schemeClr val="bg2"/>
              </a:gs>
              <a:gs pos="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descr="upload.wikimedia.org/wikipedia/commons/thumb/a/...">
            <a:extLst>
              <a:ext uri="{FF2B5EF4-FFF2-40B4-BE49-F238E27FC236}">
                <a16:creationId xmlns:a16="http://schemas.microsoft.com/office/drawing/2014/main" id="{CA694BCE-8109-2987-27BB-BEF06C9196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8434" y="302812"/>
            <a:ext cx="1120944" cy="33832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857E4F8-46A2-2214-E819-6E06E930272E}"/>
              </a:ext>
            </a:extLst>
          </p:cNvPr>
          <p:cNvSpPr txBox="1"/>
          <p:nvPr/>
        </p:nvSpPr>
        <p:spPr>
          <a:xfrm>
            <a:off x="6956612" y="4912659"/>
            <a:ext cx="184731" cy="369332"/>
          </a:xfrm>
          <a:prstGeom prst="rect">
            <a:avLst/>
          </a:prstGeom>
          <a:noFill/>
        </p:spPr>
        <p:txBody>
          <a:bodyPr wrap="none" rtlCol="0">
            <a:spAutoFit/>
          </a:bodyPr>
          <a:lstStyle/>
          <a:p>
            <a:endParaRPr lang="en-US" dirty="0"/>
          </a:p>
        </p:txBody>
      </p:sp>
      <p:grpSp>
        <p:nvGrpSpPr>
          <p:cNvPr id="10" name="Group 9">
            <a:extLst>
              <a:ext uri="{FF2B5EF4-FFF2-40B4-BE49-F238E27FC236}">
                <a16:creationId xmlns:a16="http://schemas.microsoft.com/office/drawing/2014/main" id="{BA18AE6D-25D3-A552-49FC-736C6F4A101F}"/>
              </a:ext>
            </a:extLst>
          </p:cNvPr>
          <p:cNvGrpSpPr/>
          <p:nvPr/>
        </p:nvGrpSpPr>
        <p:grpSpPr>
          <a:xfrm>
            <a:off x="1839557" y="1070616"/>
            <a:ext cx="4094961" cy="5140006"/>
            <a:chOff x="736600" y="1174234"/>
            <a:chExt cx="11871912" cy="12438223"/>
          </a:xfrm>
        </p:grpSpPr>
        <p:sp>
          <p:nvSpPr>
            <p:cNvPr id="4" name="TextBox 3">
              <a:extLst>
                <a:ext uri="{FF2B5EF4-FFF2-40B4-BE49-F238E27FC236}">
                  <a16:creationId xmlns:a16="http://schemas.microsoft.com/office/drawing/2014/main" id="{D44A2D32-90D9-B10D-2FDC-F09373D08FFC}"/>
                </a:ext>
              </a:extLst>
            </p:cNvPr>
            <p:cNvSpPr txBox="1"/>
            <p:nvPr/>
          </p:nvSpPr>
          <p:spPr>
            <a:xfrm>
              <a:off x="736600" y="1174234"/>
              <a:ext cx="6095999" cy="1117176"/>
            </a:xfrm>
            <a:prstGeom prst="rect">
              <a:avLst/>
            </a:prstGeom>
            <a:noFill/>
          </p:spPr>
          <p:txBody>
            <a:bodyPr wrap="square">
              <a:spAutoFit/>
            </a:bodyPr>
            <a:lstStyle/>
            <a:p>
              <a:pPr defTabSz="308610">
                <a:spcAft>
                  <a:spcPts val="450"/>
                </a:spcAft>
              </a:pPr>
              <a:r>
                <a:rPr lang="en-IN" sz="2400" b="1" kern="1200" dirty="0">
                  <a:solidFill>
                    <a:schemeClr val="bg2"/>
                  </a:solidFill>
                  <a:latin typeface="Montserrat" panose="00000500000000000000" pitchFamily="2" charset="0"/>
                  <a:ea typeface="+mn-ea"/>
                  <a:cs typeface="+mn-cs"/>
                </a:rPr>
                <a:t>Box</a:t>
              </a:r>
              <a:r>
                <a:rPr lang="en-IN" sz="945" b="1" kern="1200" dirty="0">
                  <a:solidFill>
                    <a:schemeClr val="bg2"/>
                  </a:solidFill>
                  <a:latin typeface="Montserrat" panose="00000500000000000000" pitchFamily="2" charset="0"/>
                  <a:ea typeface="+mn-ea"/>
                  <a:cs typeface="+mn-cs"/>
                </a:rPr>
                <a:t> </a:t>
              </a:r>
              <a:r>
                <a:rPr lang="en-IN" sz="2400" b="1" kern="1200" dirty="0">
                  <a:solidFill>
                    <a:schemeClr val="bg2"/>
                  </a:solidFill>
                  <a:latin typeface="Montserrat" panose="00000500000000000000" pitchFamily="2" charset="0"/>
                  <a:ea typeface="+mn-ea"/>
                  <a:cs typeface="+mn-cs"/>
                </a:rPr>
                <a:t>Plot</a:t>
              </a:r>
              <a:endParaRPr lang="en-IN" sz="2400" b="1" dirty="0">
                <a:solidFill>
                  <a:schemeClr val="bg2"/>
                </a:solidFill>
                <a:latin typeface="Montserrat" panose="00000500000000000000" pitchFamily="2" charset="0"/>
              </a:endParaRPr>
            </a:p>
          </p:txBody>
        </p:sp>
        <p:grpSp>
          <p:nvGrpSpPr>
            <p:cNvPr id="8" name="Group 7">
              <a:extLst>
                <a:ext uri="{FF2B5EF4-FFF2-40B4-BE49-F238E27FC236}">
                  <a16:creationId xmlns:a16="http://schemas.microsoft.com/office/drawing/2014/main" id="{7D5F6631-F00E-A939-D752-CCD389EBBE40}"/>
                </a:ext>
              </a:extLst>
            </p:cNvPr>
            <p:cNvGrpSpPr/>
            <p:nvPr/>
          </p:nvGrpSpPr>
          <p:grpSpPr>
            <a:xfrm>
              <a:off x="888998" y="1980797"/>
              <a:ext cx="11719514" cy="11631660"/>
              <a:chOff x="888998" y="2158597"/>
              <a:chExt cx="10539425" cy="11631660"/>
            </a:xfrm>
          </p:grpSpPr>
          <p:sp>
            <p:nvSpPr>
              <p:cNvPr id="6" name="TextBox 5">
                <a:extLst>
                  <a:ext uri="{FF2B5EF4-FFF2-40B4-BE49-F238E27FC236}">
                    <a16:creationId xmlns:a16="http://schemas.microsoft.com/office/drawing/2014/main" id="{5756FA1C-44DD-2985-1026-0E74D4FE20E1}"/>
                  </a:ext>
                </a:extLst>
              </p:cNvPr>
              <p:cNvSpPr txBox="1"/>
              <p:nvPr/>
            </p:nvSpPr>
            <p:spPr>
              <a:xfrm>
                <a:off x="888998" y="2158597"/>
                <a:ext cx="10539425" cy="11631660"/>
              </a:xfrm>
              <a:prstGeom prst="rect">
                <a:avLst/>
              </a:prstGeom>
              <a:noFill/>
            </p:spPr>
            <p:txBody>
              <a:bodyPr wrap="square">
                <a:spAutoFit/>
              </a:bodyPr>
              <a:lstStyle/>
              <a:p>
                <a:pPr marL="96441" indent="-96441" defTabSz="308610">
                  <a:lnSpc>
                    <a:spcPct val="150000"/>
                  </a:lnSpc>
                  <a:spcAft>
                    <a:spcPts val="450"/>
                  </a:spcAft>
                  <a:buFont typeface="Wingdings" pitchFamily="2" charset="2"/>
                  <a:buChar char="q"/>
                </a:pPr>
                <a:r>
                  <a:rPr lang="en-CA" sz="1600" b="1" kern="1200" dirty="0">
                    <a:solidFill>
                      <a:schemeClr val="tx1"/>
                    </a:solidFill>
                    <a:latin typeface="+mn-lt"/>
                    <a:ea typeface="+mn-ea"/>
                    <a:cs typeface="+mn-cs"/>
                  </a:rPr>
                  <a:t>Box:</a:t>
                </a:r>
                <a:r>
                  <a:rPr lang="en-CA" sz="1600" kern="1200" dirty="0">
                    <a:solidFill>
                      <a:schemeClr val="tx1"/>
                    </a:solidFill>
                    <a:latin typeface="+mn-lt"/>
                    <a:ea typeface="+mn-ea"/>
                    <a:cs typeface="+mn-cs"/>
                  </a:rPr>
                  <a:t> Shows the normal range (middle 50%) of delivery times.</a:t>
                </a:r>
              </a:p>
              <a:p>
                <a:pPr marL="96441" indent="-96441" defTabSz="308610">
                  <a:lnSpc>
                    <a:spcPct val="150000"/>
                  </a:lnSpc>
                  <a:spcAft>
                    <a:spcPts val="450"/>
                  </a:spcAft>
                  <a:buFont typeface="Wingdings" pitchFamily="2" charset="2"/>
                  <a:buChar char="q"/>
                </a:pPr>
                <a:r>
                  <a:rPr lang="en-CA" sz="1600" b="1" kern="1200" dirty="0">
                    <a:solidFill>
                      <a:schemeClr val="tx1"/>
                    </a:solidFill>
                    <a:latin typeface="+mn-lt"/>
                    <a:ea typeface="+mn-ea"/>
                    <a:cs typeface="+mn-cs"/>
                  </a:rPr>
                  <a:t>Median line:</a:t>
                </a:r>
                <a:r>
                  <a:rPr lang="en-CA" sz="1600" kern="1200" dirty="0">
                    <a:solidFill>
                      <a:schemeClr val="tx1"/>
                    </a:solidFill>
                    <a:latin typeface="+mn-lt"/>
                    <a:ea typeface="+mn-ea"/>
                    <a:cs typeface="+mn-cs"/>
                  </a:rPr>
                  <a:t> Marks the typical (middle) delivery time.</a:t>
                </a:r>
              </a:p>
              <a:p>
                <a:pPr marL="96441" indent="-96441" defTabSz="308610">
                  <a:lnSpc>
                    <a:spcPct val="150000"/>
                  </a:lnSpc>
                  <a:spcAft>
                    <a:spcPts val="450"/>
                  </a:spcAft>
                  <a:buFont typeface="Wingdings" pitchFamily="2" charset="2"/>
                  <a:buChar char="q"/>
                </a:pPr>
                <a:r>
                  <a:rPr lang="en-CA" sz="1600" b="1" kern="1200" dirty="0">
                    <a:solidFill>
                      <a:schemeClr val="tx1"/>
                    </a:solidFill>
                    <a:latin typeface="+mn-lt"/>
                    <a:ea typeface="+mn-ea"/>
                    <a:cs typeface="+mn-cs"/>
                  </a:rPr>
                  <a:t>Whiskers:</a:t>
                </a:r>
                <a:r>
                  <a:rPr lang="en-CA" sz="1600" kern="1200" dirty="0">
                    <a:solidFill>
                      <a:schemeClr val="tx1"/>
                    </a:solidFill>
                    <a:latin typeface="+mn-lt"/>
                    <a:ea typeface="+mn-ea"/>
                    <a:cs typeface="+mn-cs"/>
                  </a:rPr>
                  <a:t> Indicate most delivery times within expected limits.</a:t>
                </a:r>
              </a:p>
              <a:p>
                <a:pPr marL="96441" indent="-96441" defTabSz="308610">
                  <a:lnSpc>
                    <a:spcPct val="150000"/>
                  </a:lnSpc>
                  <a:spcAft>
                    <a:spcPts val="450"/>
                  </a:spcAft>
                  <a:buFont typeface="Wingdings" pitchFamily="2" charset="2"/>
                  <a:buChar char="q"/>
                </a:pPr>
                <a:r>
                  <a:rPr lang="en-CA" sz="1600" b="1" kern="1200" dirty="0">
                    <a:solidFill>
                      <a:schemeClr val="tx1"/>
                    </a:solidFill>
                    <a:latin typeface="+mn-lt"/>
                    <a:ea typeface="+mn-ea"/>
                    <a:cs typeface="+mn-cs"/>
                  </a:rPr>
                  <a:t>Dots:</a:t>
                </a:r>
                <a:r>
                  <a:rPr lang="en-CA" sz="1600" kern="1200" dirty="0">
                    <a:solidFill>
                      <a:schemeClr val="tx1"/>
                    </a:solidFill>
                    <a:latin typeface="+mn-lt"/>
                    <a:ea typeface="+mn-ea"/>
                    <a:cs typeface="+mn-cs"/>
                  </a:rPr>
                  <a:t> Highlight outliers—unusually fast or slow deliveries.</a:t>
                </a:r>
                <a:endParaRPr lang="en-US" sz="1600" kern="1200" dirty="0">
                  <a:solidFill>
                    <a:schemeClr val="tx1"/>
                  </a:solidFill>
                  <a:latin typeface="+mn-lt"/>
                  <a:ea typeface="+mn-ea"/>
                  <a:cs typeface="+mn-cs"/>
                </a:endParaRPr>
              </a:p>
              <a:p>
                <a:pPr marL="96441" indent="-96441" defTabSz="308610">
                  <a:lnSpc>
                    <a:spcPct val="150000"/>
                  </a:lnSpc>
                  <a:spcAft>
                    <a:spcPts val="450"/>
                  </a:spcAft>
                  <a:buFont typeface="Wingdings" pitchFamily="2" charset="2"/>
                  <a:buChar char="q"/>
                </a:pPr>
                <a:r>
                  <a:rPr lang="en-CA" sz="1600" b="1" kern="1200" dirty="0">
                    <a:solidFill>
                      <a:schemeClr val="tx1"/>
                    </a:solidFill>
                    <a:latin typeface="+mn-lt"/>
                    <a:ea typeface="+mn-ea"/>
                    <a:cs typeface="+mn-cs"/>
                  </a:rPr>
                  <a:t>Why it matters:</a:t>
                </a:r>
                <a:br>
                  <a:rPr lang="en-CA" sz="1600" kern="1200" dirty="0">
                    <a:solidFill>
                      <a:schemeClr val="tx1"/>
                    </a:solidFill>
                    <a:latin typeface="+mn-lt"/>
                    <a:ea typeface="+mn-ea"/>
                    <a:cs typeface="+mn-cs"/>
                  </a:rPr>
                </a:br>
                <a:r>
                  <a:rPr lang="en-CA" sz="1600" kern="1200" dirty="0">
                    <a:solidFill>
                      <a:schemeClr val="tx1"/>
                    </a:solidFill>
                    <a:latin typeface="+mn-lt"/>
                    <a:ea typeface="+mn-ea"/>
                    <a:cs typeface="+mn-cs"/>
                  </a:rPr>
                  <a:t>Quickly spot trends, variation, and delays in delivery performance.</a:t>
                </a:r>
                <a:endParaRPr lang="en-US" sz="1600" kern="1200" dirty="0">
                  <a:solidFill>
                    <a:schemeClr val="tx1"/>
                  </a:solidFill>
                  <a:latin typeface="+mn-lt"/>
                  <a:ea typeface="+mn-ea"/>
                  <a:cs typeface="+mn-cs"/>
                </a:endParaRPr>
              </a:p>
              <a:p>
                <a:pPr marL="285750" lvl="0" indent="-285750">
                  <a:lnSpc>
                    <a:spcPct val="150000"/>
                  </a:lnSpc>
                  <a:spcAft>
                    <a:spcPts val="600"/>
                  </a:spcAft>
                  <a:buFont typeface="Wingdings" pitchFamily="2" charset="2"/>
                  <a:buChar char="q"/>
                </a:pPr>
                <a:endParaRPr lang="en-US" sz="1600" dirty="0"/>
              </a:p>
            </p:txBody>
          </p:sp>
          <p:sp>
            <p:nvSpPr>
              <p:cNvPr id="7" name="TextBox 6">
                <a:extLst>
                  <a:ext uri="{FF2B5EF4-FFF2-40B4-BE49-F238E27FC236}">
                    <a16:creationId xmlns:a16="http://schemas.microsoft.com/office/drawing/2014/main" id="{F8155716-7898-5C9B-E75D-3B23E0CF3658}"/>
                  </a:ext>
                </a:extLst>
              </p:cNvPr>
              <p:cNvSpPr txBox="1"/>
              <p:nvPr/>
            </p:nvSpPr>
            <p:spPr>
              <a:xfrm>
                <a:off x="5928001" y="2158597"/>
                <a:ext cx="4878392" cy="742621"/>
              </a:xfrm>
              <a:prstGeom prst="rect">
                <a:avLst/>
              </a:prstGeom>
              <a:noFill/>
            </p:spPr>
            <p:txBody>
              <a:bodyPr wrap="square">
                <a:spAutoFit/>
              </a:bodyPr>
              <a:lstStyle/>
              <a:p>
                <a:pPr lvl="0">
                  <a:spcAft>
                    <a:spcPts val="600"/>
                  </a:spcAft>
                </a:pPr>
                <a:endParaRPr lang="en-US" sz="1600"/>
              </a:p>
            </p:txBody>
          </p:sp>
        </p:grpSp>
      </p:grpSp>
    </p:spTree>
    <p:extLst>
      <p:ext uri="{BB962C8B-B14F-4D97-AF65-F5344CB8AC3E}">
        <p14:creationId xmlns:p14="http://schemas.microsoft.com/office/powerpoint/2010/main" val="2211890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92F4A61-1DA6-9676-05E8-FF217B0BA9D7}"/>
              </a:ext>
            </a:extLst>
          </p:cNvPr>
          <p:cNvSpPr/>
          <p:nvPr/>
        </p:nvSpPr>
        <p:spPr>
          <a:xfrm>
            <a:off x="-152400" y="0"/>
            <a:ext cx="3048000" cy="6858000"/>
          </a:xfrm>
          <a:prstGeom prst="rect">
            <a:avLst/>
          </a:prstGeom>
          <a:gradFill>
            <a:gsLst>
              <a:gs pos="100000">
                <a:schemeClr val="bg2"/>
              </a:gs>
              <a:gs pos="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1" name="Group 10">
            <a:extLst>
              <a:ext uri="{FF2B5EF4-FFF2-40B4-BE49-F238E27FC236}">
                <a16:creationId xmlns:a16="http://schemas.microsoft.com/office/drawing/2014/main" id="{7B75F65F-532A-2328-9599-A0279DB9E1C5}"/>
              </a:ext>
            </a:extLst>
          </p:cNvPr>
          <p:cNvGrpSpPr/>
          <p:nvPr/>
        </p:nvGrpSpPr>
        <p:grpSpPr>
          <a:xfrm>
            <a:off x="57150" y="3302000"/>
            <a:ext cx="11690350" cy="2266646"/>
            <a:chOff x="57150" y="3302000"/>
            <a:chExt cx="11690350" cy="2266646"/>
          </a:xfrm>
        </p:grpSpPr>
        <p:sp>
          <p:nvSpPr>
            <p:cNvPr id="5" name="TextBox 4">
              <a:extLst>
                <a:ext uri="{FF2B5EF4-FFF2-40B4-BE49-F238E27FC236}">
                  <a16:creationId xmlns:a16="http://schemas.microsoft.com/office/drawing/2014/main" id="{CDC7149D-DC1F-9717-A94D-655FBD6772D1}"/>
                </a:ext>
              </a:extLst>
            </p:cNvPr>
            <p:cNvSpPr txBox="1"/>
            <p:nvPr/>
          </p:nvSpPr>
          <p:spPr>
            <a:xfrm>
              <a:off x="57150" y="4327602"/>
              <a:ext cx="2933700" cy="830997"/>
            </a:xfrm>
            <a:prstGeom prst="rect">
              <a:avLst/>
            </a:prstGeom>
            <a:noFill/>
          </p:spPr>
          <p:txBody>
            <a:bodyPr wrap="square">
              <a:spAutoFit/>
            </a:bodyPr>
            <a:lstStyle/>
            <a:p>
              <a:pPr algn="ctr"/>
              <a:r>
                <a:rPr lang="en-CA" sz="2400" b="1" dirty="0"/>
                <a:t>Key Insights</a:t>
              </a:r>
              <a:br>
                <a:rPr lang="en-CA" sz="2400" b="1" dirty="0"/>
              </a:br>
              <a:endParaRPr lang="en-IN" sz="2400" b="1" i="0" dirty="0">
                <a:solidFill>
                  <a:schemeClr val="tx1">
                    <a:lumMod val="85000"/>
                    <a:lumOff val="15000"/>
                  </a:schemeClr>
                </a:solidFill>
                <a:effectLst/>
                <a:latin typeface="Montserrat" panose="00000500000000000000" pitchFamily="2" charset="0"/>
              </a:endParaRPr>
            </a:p>
          </p:txBody>
        </p:sp>
        <p:sp>
          <p:nvSpPr>
            <p:cNvPr id="9" name="TextBox 8">
              <a:extLst>
                <a:ext uri="{FF2B5EF4-FFF2-40B4-BE49-F238E27FC236}">
                  <a16:creationId xmlns:a16="http://schemas.microsoft.com/office/drawing/2014/main" id="{ECC19CD2-9D03-D1B5-6249-656AA83E0752}"/>
                </a:ext>
              </a:extLst>
            </p:cNvPr>
            <p:cNvSpPr txBox="1"/>
            <p:nvPr/>
          </p:nvSpPr>
          <p:spPr>
            <a:xfrm>
              <a:off x="3225800" y="3302000"/>
              <a:ext cx="8521700" cy="2266646"/>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CA" sz="1600" dirty="0"/>
                <a:t>Weather is a major, quantifiable risk</a:t>
              </a:r>
              <a:endParaRPr lang="en-US" sz="1600" dirty="0"/>
            </a:p>
            <a:p>
              <a:pPr marL="285750" indent="-285750">
                <a:lnSpc>
                  <a:spcPct val="150000"/>
                </a:lnSpc>
                <a:buFont typeface="Wingdings" panose="05000000000000000000" pitchFamily="2" charset="2"/>
                <a:buChar char="q"/>
              </a:pPr>
              <a:r>
                <a:rPr lang="en-CA" sz="1600" dirty="0"/>
                <a:t>Distance increases cost &amp; delay</a:t>
              </a:r>
              <a:endParaRPr lang="en-US" sz="1600" dirty="0"/>
            </a:p>
            <a:p>
              <a:pPr marL="285750" indent="-285750">
                <a:lnSpc>
                  <a:spcPct val="150000"/>
                </a:lnSpc>
                <a:buFont typeface="Wingdings" panose="05000000000000000000" pitchFamily="2" charset="2"/>
                <a:buChar char="q"/>
              </a:pPr>
              <a:r>
                <a:rPr lang="en-CA" sz="1600" dirty="0"/>
                <a:t>Demand patterns require workforce flexibility</a:t>
              </a:r>
              <a:endParaRPr lang="en-US" sz="1600" dirty="0"/>
            </a:p>
            <a:p>
              <a:pPr marL="285750" indent="-285750">
                <a:lnSpc>
                  <a:spcPct val="150000"/>
                </a:lnSpc>
                <a:buFont typeface="Wingdings" panose="05000000000000000000" pitchFamily="2" charset="2"/>
                <a:buChar char="q"/>
              </a:pPr>
              <a:r>
                <a:rPr lang="en-CA" sz="1600" dirty="0"/>
                <a:t>Tech upgrades minimize delay outliers</a:t>
              </a:r>
              <a:endParaRPr lang="en-US" sz="1600" dirty="0"/>
            </a:p>
            <a:p>
              <a:pPr marL="285750" indent="-285750">
                <a:lnSpc>
                  <a:spcPct val="150000"/>
                </a:lnSpc>
                <a:buFont typeface="Wingdings" panose="05000000000000000000" pitchFamily="2" charset="2"/>
                <a:buChar char="q"/>
              </a:pPr>
              <a:r>
                <a:rPr lang="en-CA" sz="1600" dirty="0"/>
                <a:t>Focus needed on sustainability and compliance</a:t>
              </a:r>
              <a:endParaRPr lang="en-US" sz="1600" dirty="0"/>
            </a:p>
            <a:p>
              <a:pPr marL="285750" indent="-285750" algn="l">
                <a:lnSpc>
                  <a:spcPct val="150000"/>
                </a:lnSpc>
                <a:buFont typeface="Wingdings" panose="05000000000000000000" pitchFamily="2" charset="2"/>
                <a:buChar char="q"/>
              </a:pPr>
              <a:endParaRPr lang="en-US" sz="1600" b="0" i="0" dirty="0">
                <a:solidFill>
                  <a:schemeClr val="tx1">
                    <a:lumMod val="75000"/>
                    <a:lumOff val="25000"/>
                  </a:schemeClr>
                </a:solidFill>
                <a:effectLst/>
                <a:latin typeface="Montserrat" panose="00000500000000000000" pitchFamily="2" charset="0"/>
              </a:endParaRPr>
            </a:p>
          </p:txBody>
        </p:sp>
      </p:grpSp>
      <p:grpSp>
        <p:nvGrpSpPr>
          <p:cNvPr id="10" name="Group 9">
            <a:extLst>
              <a:ext uri="{FF2B5EF4-FFF2-40B4-BE49-F238E27FC236}">
                <a16:creationId xmlns:a16="http://schemas.microsoft.com/office/drawing/2014/main" id="{27FB60DE-E85D-A87A-DF38-4FD9A58118F5}"/>
              </a:ext>
            </a:extLst>
          </p:cNvPr>
          <p:cNvGrpSpPr/>
          <p:nvPr/>
        </p:nvGrpSpPr>
        <p:grpSpPr>
          <a:xfrm>
            <a:off x="1422401" y="309830"/>
            <a:ext cx="7873999" cy="2476216"/>
            <a:chOff x="1727201" y="309830"/>
            <a:chExt cx="7873999" cy="2476216"/>
          </a:xfrm>
        </p:grpSpPr>
        <p:pic>
          <p:nvPicPr>
            <p:cNvPr id="1026" name="Picture 2" descr="Photo delivery tracking system for ecommerce and modish online business">
              <a:extLst>
                <a:ext uri="{FF2B5EF4-FFF2-40B4-BE49-F238E27FC236}">
                  <a16:creationId xmlns:a16="http://schemas.microsoft.com/office/drawing/2014/main" id="{4302C4A3-33EF-0B3F-38F8-C4EB098977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7201" y="309830"/>
              <a:ext cx="3708400" cy="24762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ree photo social media marketing concept for marketing with applications">
              <a:extLst>
                <a:ext uri="{FF2B5EF4-FFF2-40B4-BE49-F238E27FC236}">
                  <a16:creationId xmlns:a16="http://schemas.microsoft.com/office/drawing/2014/main" id="{83EA8E53-A39B-CB98-5301-4011FAD3DF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000" y="309831"/>
              <a:ext cx="3759200" cy="2476215"/>
            </a:xfrm>
            <a:prstGeom prst="rect">
              <a:avLst/>
            </a:prstGeom>
            <a:noFill/>
            <a:extLst>
              <a:ext uri="{909E8E84-426E-40DD-AFC4-6F175D3DCCD1}">
                <a14:hiddenFill xmlns:a14="http://schemas.microsoft.com/office/drawing/2010/main">
                  <a:solidFill>
                    <a:srgbClr val="FFFFFF"/>
                  </a:solidFill>
                </a14:hiddenFill>
              </a:ext>
            </a:extLst>
          </p:spPr>
        </p:pic>
      </p:grpSp>
      <p:pic>
        <p:nvPicPr>
          <p:cNvPr id="3" name="Picture 2" descr="upload.wikimedia.org/wikipedia/commons/thumb/a/...">
            <a:extLst>
              <a:ext uri="{FF2B5EF4-FFF2-40B4-BE49-F238E27FC236}">
                <a16:creationId xmlns:a16="http://schemas.microsoft.com/office/drawing/2014/main" id="{5B4EC7C2-88C7-85CB-0C28-9971668A72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8434" y="302812"/>
            <a:ext cx="1120944" cy="338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172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8BDD82-C175-0CEC-972B-44DD85742AFC}"/>
              </a:ext>
            </a:extLst>
          </p:cNvPr>
          <p:cNvSpPr/>
          <p:nvPr/>
        </p:nvSpPr>
        <p:spPr>
          <a:xfrm>
            <a:off x="5029200" y="0"/>
            <a:ext cx="5143500" cy="6858000"/>
          </a:xfrm>
          <a:prstGeom prst="rect">
            <a:avLst/>
          </a:prstGeom>
          <a:gradFill>
            <a:gsLst>
              <a:gs pos="100000">
                <a:schemeClr val="bg2"/>
              </a:gs>
              <a:gs pos="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6" name="Group 15">
            <a:extLst>
              <a:ext uri="{FF2B5EF4-FFF2-40B4-BE49-F238E27FC236}">
                <a16:creationId xmlns:a16="http://schemas.microsoft.com/office/drawing/2014/main" id="{0DE4C5D9-6ECB-0714-0980-64A94C52E726}"/>
              </a:ext>
            </a:extLst>
          </p:cNvPr>
          <p:cNvGrpSpPr/>
          <p:nvPr/>
        </p:nvGrpSpPr>
        <p:grpSpPr>
          <a:xfrm>
            <a:off x="0" y="1387475"/>
            <a:ext cx="9944099" cy="4447189"/>
            <a:chOff x="0" y="1387475"/>
            <a:chExt cx="9944099" cy="4447189"/>
          </a:xfrm>
        </p:grpSpPr>
        <p:grpSp>
          <p:nvGrpSpPr>
            <p:cNvPr id="9" name="Group 8">
              <a:extLst>
                <a:ext uri="{FF2B5EF4-FFF2-40B4-BE49-F238E27FC236}">
                  <a16:creationId xmlns:a16="http://schemas.microsoft.com/office/drawing/2014/main" id="{B03ACE3B-10A3-606A-17CF-9805A60E8EC9}"/>
                </a:ext>
              </a:extLst>
            </p:cNvPr>
            <p:cNvGrpSpPr/>
            <p:nvPr/>
          </p:nvGrpSpPr>
          <p:grpSpPr>
            <a:xfrm>
              <a:off x="6327774" y="1954494"/>
              <a:ext cx="3616325" cy="3880170"/>
              <a:chOff x="6327774" y="1529834"/>
              <a:chExt cx="3616325" cy="3880170"/>
            </a:xfrm>
          </p:grpSpPr>
          <p:sp>
            <p:nvSpPr>
              <p:cNvPr id="6" name="TextBox 5">
                <a:extLst>
                  <a:ext uri="{FF2B5EF4-FFF2-40B4-BE49-F238E27FC236}">
                    <a16:creationId xmlns:a16="http://schemas.microsoft.com/office/drawing/2014/main" id="{B848A543-38A6-EF77-9E22-9042A77051D3}"/>
                  </a:ext>
                </a:extLst>
              </p:cNvPr>
              <p:cNvSpPr txBox="1"/>
              <p:nvPr/>
            </p:nvSpPr>
            <p:spPr>
              <a:xfrm>
                <a:off x="6327775" y="1529834"/>
                <a:ext cx="3616324" cy="830997"/>
              </a:xfrm>
              <a:prstGeom prst="rect">
                <a:avLst/>
              </a:prstGeom>
              <a:noFill/>
            </p:spPr>
            <p:txBody>
              <a:bodyPr wrap="square">
                <a:spAutoFit/>
              </a:bodyPr>
              <a:lstStyle/>
              <a:p>
                <a:r>
                  <a:rPr lang="en-CA" sz="2400" b="1" dirty="0"/>
                  <a:t>Strategic Recommendations</a:t>
                </a:r>
                <a:endParaRPr lang="en-IN" sz="2400" b="1" dirty="0">
                  <a:solidFill>
                    <a:schemeClr val="tx1">
                      <a:lumMod val="75000"/>
                      <a:lumOff val="25000"/>
                    </a:schemeClr>
                  </a:solidFill>
                  <a:latin typeface="Montserrat" panose="00000500000000000000" pitchFamily="2" charset="0"/>
                </a:endParaRPr>
              </a:p>
            </p:txBody>
          </p:sp>
          <p:sp>
            <p:nvSpPr>
              <p:cNvPr id="8" name="TextBox 7">
                <a:extLst>
                  <a:ext uri="{FF2B5EF4-FFF2-40B4-BE49-F238E27FC236}">
                    <a16:creationId xmlns:a16="http://schemas.microsoft.com/office/drawing/2014/main" id="{1D98BCDA-7478-798A-B252-AF214D8A8E71}"/>
                  </a:ext>
                </a:extLst>
              </p:cNvPr>
              <p:cNvSpPr txBox="1"/>
              <p:nvPr/>
            </p:nvSpPr>
            <p:spPr>
              <a:xfrm>
                <a:off x="6327774" y="2404629"/>
                <a:ext cx="3616325" cy="300537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A" sz="1600" dirty="0"/>
                  <a:t>Real-time weather &amp; traffic analytics</a:t>
                </a:r>
              </a:p>
              <a:p>
                <a:pPr marL="285750" indent="-285750">
                  <a:lnSpc>
                    <a:spcPct val="150000"/>
                  </a:lnSpc>
                  <a:buFont typeface="Arial" panose="020B0604020202020204" pitchFamily="34" charset="0"/>
                  <a:buChar char="•"/>
                </a:pPr>
                <a:r>
                  <a:rPr lang="en-CA" sz="1600" dirty="0"/>
                  <a:t>Advanced route and workforce optimization</a:t>
                </a:r>
                <a:endParaRPr lang="en-US" sz="1600" dirty="0"/>
              </a:p>
              <a:p>
                <a:pPr marL="285750" indent="-285750">
                  <a:lnSpc>
                    <a:spcPct val="150000"/>
                  </a:lnSpc>
                  <a:buFont typeface="Arial" panose="020B0604020202020204" pitchFamily="34" charset="0"/>
                  <a:buChar char="•"/>
                </a:pPr>
                <a:r>
                  <a:rPr lang="en-CA" sz="1600" dirty="0"/>
                  <a:t>Predictive demand planning</a:t>
                </a:r>
                <a:endParaRPr lang="en-US" sz="1600" dirty="0"/>
              </a:p>
              <a:p>
                <a:pPr marL="285750" indent="-285750">
                  <a:lnSpc>
                    <a:spcPct val="150000"/>
                  </a:lnSpc>
                  <a:buFont typeface="Arial" panose="020B0604020202020204" pitchFamily="34" charset="0"/>
                  <a:buChar char="•"/>
                </a:pPr>
                <a:r>
                  <a:rPr lang="en-CA" sz="1600" dirty="0"/>
                  <a:t>Focused agent training and support</a:t>
                </a:r>
                <a:endParaRPr lang="en-US" sz="1600" dirty="0"/>
              </a:p>
              <a:p>
                <a:pPr marL="285750" indent="-285750">
                  <a:lnSpc>
                    <a:spcPct val="150000"/>
                  </a:lnSpc>
                  <a:buFont typeface="Arial" panose="020B0604020202020204" pitchFamily="34" charset="0"/>
                  <a:buChar char="•"/>
                </a:pPr>
                <a:r>
                  <a:rPr lang="en-CA" sz="1600" dirty="0"/>
                  <a:t>Sustainable, tech-enabled logistics</a:t>
                </a:r>
                <a:endParaRPr lang="en-US" sz="1600" dirty="0"/>
              </a:p>
              <a:p>
                <a:pPr>
                  <a:lnSpc>
                    <a:spcPct val="150000"/>
                  </a:lnSpc>
                </a:pPr>
                <a:endParaRPr lang="en-US" sz="1600" dirty="0"/>
              </a:p>
              <a:p>
                <a:pPr>
                  <a:lnSpc>
                    <a:spcPct val="150000"/>
                  </a:lnSpc>
                </a:pPr>
                <a:endParaRPr lang="en-IN" sz="1600" dirty="0">
                  <a:solidFill>
                    <a:schemeClr val="tx1">
                      <a:lumMod val="75000"/>
                      <a:lumOff val="25000"/>
                    </a:schemeClr>
                  </a:solidFill>
                  <a:latin typeface="Montserrat" panose="00000500000000000000" pitchFamily="2" charset="0"/>
                </a:endParaRPr>
              </a:p>
            </p:txBody>
          </p:sp>
        </p:grpSp>
        <p:pic>
          <p:nvPicPr>
            <p:cNvPr id="14" name="Picture 13" descr="A person holding a phone and using a computer&#10;&#10;Description automatically generated">
              <a:extLst>
                <a:ext uri="{FF2B5EF4-FFF2-40B4-BE49-F238E27FC236}">
                  <a16:creationId xmlns:a16="http://schemas.microsoft.com/office/drawing/2014/main" id="{E75634AD-6DF6-1E57-1D01-F821C305DB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7475"/>
              <a:ext cx="6124575" cy="4083050"/>
            </a:xfrm>
            <a:prstGeom prst="rect">
              <a:avLst/>
            </a:prstGeom>
          </p:spPr>
        </p:pic>
      </p:grpSp>
      <p:pic>
        <p:nvPicPr>
          <p:cNvPr id="3" name="Picture 2" descr="upload.wikimedia.org/wikipedia/commons/thumb/a/...">
            <a:extLst>
              <a:ext uri="{FF2B5EF4-FFF2-40B4-BE49-F238E27FC236}">
                <a16:creationId xmlns:a16="http://schemas.microsoft.com/office/drawing/2014/main" id="{AF8662CB-A4C4-1DA6-1133-6CFBC1A4BB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8434" y="302812"/>
            <a:ext cx="1120944" cy="338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6036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4713CE5-E1CE-1C10-FECF-1546B9EEDC9A}"/>
              </a:ext>
            </a:extLst>
          </p:cNvPr>
          <p:cNvSpPr/>
          <p:nvPr/>
        </p:nvSpPr>
        <p:spPr>
          <a:xfrm>
            <a:off x="1" y="1954919"/>
            <a:ext cx="12191999" cy="4291176"/>
          </a:xfrm>
          <a:prstGeom prst="rect">
            <a:avLst/>
          </a:prstGeom>
          <a:gradFill>
            <a:gsLst>
              <a:gs pos="0">
                <a:schemeClr val="bg2"/>
              </a:gs>
              <a:gs pos="100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218" name="Picture 2" descr="Free photo cyber monday shopping sales">
            <a:extLst>
              <a:ext uri="{FF2B5EF4-FFF2-40B4-BE49-F238E27FC236}">
                <a16:creationId xmlns:a16="http://schemas.microsoft.com/office/drawing/2014/main" id="{F3139FEA-66DE-B131-B687-CAA52A646C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586514" cy="6885270"/>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931FCF5E-8174-1DCD-2F75-121E9957D2E8}"/>
              </a:ext>
            </a:extLst>
          </p:cNvPr>
          <p:cNvGrpSpPr/>
          <p:nvPr/>
        </p:nvGrpSpPr>
        <p:grpSpPr>
          <a:xfrm>
            <a:off x="4967155" y="1104915"/>
            <a:ext cx="6531429" cy="5141180"/>
            <a:chOff x="4992913" y="2598204"/>
            <a:chExt cx="6531429" cy="4546563"/>
          </a:xfrm>
        </p:grpSpPr>
        <p:sp>
          <p:nvSpPr>
            <p:cNvPr id="6" name="TextBox 5">
              <a:extLst>
                <a:ext uri="{FF2B5EF4-FFF2-40B4-BE49-F238E27FC236}">
                  <a16:creationId xmlns:a16="http://schemas.microsoft.com/office/drawing/2014/main" id="{D582CFB3-D956-43DC-523C-B97CCAAE5F7B}"/>
                </a:ext>
              </a:extLst>
            </p:cNvPr>
            <p:cNvSpPr txBox="1"/>
            <p:nvPr/>
          </p:nvSpPr>
          <p:spPr>
            <a:xfrm>
              <a:off x="4992913" y="3239477"/>
              <a:ext cx="6531429" cy="3905290"/>
            </a:xfrm>
            <a:prstGeom prst="rect">
              <a:avLst/>
            </a:prstGeom>
            <a:noFill/>
          </p:spPr>
          <p:txBody>
            <a:bodyPr wrap="square">
              <a:spAutoFit/>
            </a:bodyPr>
            <a:lstStyle/>
            <a:p>
              <a:pPr>
                <a:lnSpc>
                  <a:spcPct val="150000"/>
                </a:lnSpc>
                <a:buFont typeface="Arial" panose="020B0604020202020204" pitchFamily="34" charset="0"/>
                <a:buChar char="•"/>
              </a:pPr>
              <a:r>
                <a:rPr lang="en-CA" sz="1600" dirty="0"/>
                <a:t>Amazon’s last-mile delivery performance is strongly affected by PESTEL factors—especially weather, distance, and traffic.</a:t>
              </a:r>
            </a:p>
            <a:p>
              <a:pPr>
                <a:lnSpc>
                  <a:spcPct val="150000"/>
                </a:lnSpc>
                <a:buFont typeface="Arial" panose="020B0604020202020204" pitchFamily="34" charset="0"/>
                <a:buChar char="•"/>
              </a:pPr>
              <a:r>
                <a:rPr lang="en-CA" sz="1600" dirty="0"/>
                <a:t>Advanced analytics (regression &amp; hypothesis testing) showed that adverse weather adds, on average, </a:t>
              </a:r>
              <a:r>
                <a:rPr lang="en-CA" sz="1600" b="1" dirty="0"/>
                <a:t>25 minutes</a:t>
              </a:r>
              <a:r>
                <a:rPr lang="en-CA" sz="1600" dirty="0"/>
                <a:t> to delivery times.</a:t>
              </a:r>
            </a:p>
            <a:p>
              <a:pPr>
                <a:lnSpc>
                  <a:spcPct val="150000"/>
                </a:lnSpc>
                <a:buFont typeface="Arial" panose="020B0604020202020204" pitchFamily="34" charset="0"/>
                <a:buChar char="•"/>
              </a:pPr>
              <a:r>
                <a:rPr lang="en-CA" sz="1600" b="1" dirty="0"/>
                <a:t>Data-driven decision-making</a:t>
              </a:r>
              <a:r>
                <a:rPr lang="en-CA" sz="1600" dirty="0"/>
                <a:t> is essential for identifying risks and optimizing logistics.</a:t>
              </a:r>
            </a:p>
            <a:p>
              <a:pPr>
                <a:lnSpc>
                  <a:spcPct val="150000"/>
                </a:lnSpc>
                <a:buFont typeface="Arial" panose="020B0604020202020204" pitchFamily="34" charset="0"/>
                <a:buChar char="•"/>
              </a:pPr>
              <a:r>
                <a:rPr lang="en-CA" sz="1600" b="1" dirty="0"/>
                <a:t>Strategic actions:</a:t>
              </a:r>
              <a:endParaRPr lang="en-CA" sz="1600" dirty="0"/>
            </a:p>
            <a:p>
              <a:pPr marL="742950" lvl="1" indent="-285750">
                <a:lnSpc>
                  <a:spcPct val="150000"/>
                </a:lnSpc>
                <a:buFont typeface="Arial" panose="020B0604020202020204" pitchFamily="34" charset="0"/>
                <a:buChar char="•"/>
              </a:pPr>
              <a:r>
                <a:rPr lang="en-CA" sz="1600" dirty="0"/>
                <a:t>Invest in predictive analytics and weather routing</a:t>
              </a:r>
            </a:p>
            <a:p>
              <a:pPr marL="742950" lvl="1" indent="-285750">
                <a:lnSpc>
                  <a:spcPct val="150000"/>
                </a:lnSpc>
                <a:buFont typeface="Arial" panose="020B0604020202020204" pitchFamily="34" charset="0"/>
                <a:buChar char="•"/>
              </a:pPr>
              <a:r>
                <a:rPr lang="en-CA" sz="1600" dirty="0"/>
                <a:t>Optimize routes and resource planning</a:t>
              </a:r>
            </a:p>
            <a:p>
              <a:pPr marL="742950" lvl="1" indent="-285750">
                <a:lnSpc>
                  <a:spcPct val="150000"/>
                </a:lnSpc>
                <a:buFont typeface="Arial" panose="020B0604020202020204" pitchFamily="34" charset="0"/>
                <a:buChar char="•"/>
              </a:pPr>
              <a:r>
                <a:rPr lang="en-CA" sz="1600" dirty="0"/>
                <a:t>Embrace technology upgrades and sustainability</a:t>
              </a:r>
            </a:p>
            <a:p>
              <a:pPr>
                <a:lnSpc>
                  <a:spcPct val="150000"/>
                </a:lnSpc>
                <a:buFont typeface="Arial" panose="020B0604020202020204" pitchFamily="34" charset="0"/>
                <a:buChar char="•"/>
              </a:pPr>
              <a:r>
                <a:rPr lang="en-CA" sz="1600" dirty="0"/>
                <a:t>These strategies will enhance service reliability, efficiency, and customer satisfaction—solidifying Amazon’s leadership in innovative delivery solutions.</a:t>
              </a:r>
            </a:p>
          </p:txBody>
        </p:sp>
        <p:sp>
          <p:nvSpPr>
            <p:cNvPr id="7" name="TextBox 6">
              <a:extLst>
                <a:ext uri="{FF2B5EF4-FFF2-40B4-BE49-F238E27FC236}">
                  <a16:creationId xmlns:a16="http://schemas.microsoft.com/office/drawing/2014/main" id="{896C1678-9C5D-7FE2-88DD-BADC26039752}"/>
                </a:ext>
              </a:extLst>
            </p:cNvPr>
            <p:cNvSpPr txBox="1"/>
            <p:nvPr/>
          </p:nvSpPr>
          <p:spPr>
            <a:xfrm>
              <a:off x="4992913" y="2598204"/>
              <a:ext cx="6096000" cy="480131"/>
            </a:xfrm>
            <a:prstGeom prst="rect">
              <a:avLst/>
            </a:prstGeom>
            <a:noFill/>
          </p:spPr>
          <p:txBody>
            <a:bodyPr wrap="square">
              <a:spAutoFit/>
            </a:bodyPr>
            <a:lstStyle/>
            <a:p>
              <a:pPr>
                <a:lnSpc>
                  <a:spcPct val="90000"/>
                </a:lnSpc>
                <a:spcBef>
                  <a:spcPct val="0"/>
                </a:spcBef>
                <a:spcAft>
                  <a:spcPts val="600"/>
                </a:spcAft>
              </a:pPr>
              <a:r>
                <a:rPr lang="en-US" sz="2800" b="1" kern="1200" dirty="0">
                  <a:solidFill>
                    <a:schemeClr val="tx1">
                      <a:lumMod val="85000"/>
                      <a:lumOff val="15000"/>
                    </a:schemeClr>
                  </a:solidFill>
                  <a:latin typeface="Montserrat" panose="00000500000000000000" pitchFamily="2" charset="0"/>
                  <a:ea typeface="+mj-ea"/>
                  <a:cs typeface="+mj-cs"/>
                </a:rPr>
                <a:t>Conclusion</a:t>
              </a:r>
            </a:p>
          </p:txBody>
        </p:sp>
      </p:grpSp>
      <p:pic>
        <p:nvPicPr>
          <p:cNvPr id="5" name="Picture 4" descr="upload.wikimedia.org/wikipedia/commons/thumb/a/...">
            <a:extLst>
              <a:ext uri="{FF2B5EF4-FFF2-40B4-BE49-F238E27FC236}">
                <a16:creationId xmlns:a16="http://schemas.microsoft.com/office/drawing/2014/main" id="{8BEAA875-A119-9753-ACF8-6C0C64E3CB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8434" y="302812"/>
            <a:ext cx="1120944" cy="338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0385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Photo boxes in and trolley on a laptop online shopping is a form of electronic commerce that allows consumers to directly buy goods from a seller over">
            <a:extLst>
              <a:ext uri="{FF2B5EF4-FFF2-40B4-BE49-F238E27FC236}">
                <a16:creationId xmlns:a16="http://schemas.microsoft.com/office/drawing/2014/main" id="{24521E44-72A8-5846-12F5-41366662CB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2541" y="0"/>
            <a:ext cx="4615542" cy="6928846"/>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Group 47">
            <a:extLst>
              <a:ext uri="{FF2B5EF4-FFF2-40B4-BE49-F238E27FC236}">
                <a16:creationId xmlns:a16="http://schemas.microsoft.com/office/drawing/2014/main" id="{AE15669F-6CCA-4803-62BD-B8017E56C14D}"/>
              </a:ext>
            </a:extLst>
          </p:cNvPr>
          <p:cNvGrpSpPr/>
          <p:nvPr/>
        </p:nvGrpSpPr>
        <p:grpSpPr>
          <a:xfrm>
            <a:off x="351176" y="1838485"/>
            <a:ext cx="5065050" cy="2119128"/>
            <a:chOff x="556211" y="1963394"/>
            <a:chExt cx="5065050" cy="2119128"/>
          </a:xfrm>
        </p:grpSpPr>
        <p:sp>
          <p:nvSpPr>
            <p:cNvPr id="49" name="TextBox 48">
              <a:extLst>
                <a:ext uri="{FF2B5EF4-FFF2-40B4-BE49-F238E27FC236}">
                  <a16:creationId xmlns:a16="http://schemas.microsoft.com/office/drawing/2014/main" id="{2736F8A4-932E-06E7-BCBD-F3CBBEACB053}"/>
                </a:ext>
              </a:extLst>
            </p:cNvPr>
            <p:cNvSpPr txBox="1"/>
            <p:nvPr/>
          </p:nvSpPr>
          <p:spPr>
            <a:xfrm>
              <a:off x="556211" y="1963394"/>
              <a:ext cx="5065050" cy="1015663"/>
            </a:xfrm>
            <a:prstGeom prst="rect">
              <a:avLst/>
            </a:prstGeom>
            <a:noFill/>
          </p:spPr>
          <p:txBody>
            <a:bodyPr wrap="square">
              <a:spAutoFit/>
            </a:bodyPr>
            <a:lstStyle/>
            <a:p>
              <a:r>
                <a:rPr lang="en-US" sz="6000" b="1" dirty="0">
                  <a:solidFill>
                    <a:schemeClr val="bg2"/>
                  </a:solidFill>
                  <a:latin typeface="Montserrat" panose="00000500000000000000" pitchFamily="2" charset="0"/>
                </a:rPr>
                <a:t>Thank You…</a:t>
              </a:r>
              <a:endParaRPr lang="en-IN" sz="6000" b="1" dirty="0">
                <a:solidFill>
                  <a:schemeClr val="bg2"/>
                </a:solidFill>
                <a:latin typeface="Montserrat" panose="00000500000000000000" pitchFamily="2" charset="0"/>
              </a:endParaRPr>
            </a:p>
          </p:txBody>
        </p:sp>
        <p:grpSp>
          <p:nvGrpSpPr>
            <p:cNvPr id="50" name="Group 49">
              <a:extLst>
                <a:ext uri="{FF2B5EF4-FFF2-40B4-BE49-F238E27FC236}">
                  <a16:creationId xmlns:a16="http://schemas.microsoft.com/office/drawing/2014/main" id="{46C510F5-AE10-AAED-CA82-C98E468C36A0}"/>
                </a:ext>
              </a:extLst>
            </p:cNvPr>
            <p:cNvGrpSpPr/>
            <p:nvPr/>
          </p:nvGrpSpPr>
          <p:grpSpPr>
            <a:xfrm>
              <a:off x="556211" y="3221452"/>
              <a:ext cx="5065050" cy="861070"/>
              <a:chOff x="667874" y="3228945"/>
              <a:chExt cx="5065050" cy="861070"/>
            </a:xfrm>
          </p:grpSpPr>
          <p:sp>
            <p:nvSpPr>
              <p:cNvPr id="55" name="TextBox 54">
                <a:extLst>
                  <a:ext uri="{FF2B5EF4-FFF2-40B4-BE49-F238E27FC236}">
                    <a16:creationId xmlns:a16="http://schemas.microsoft.com/office/drawing/2014/main" id="{FE2DCCA4-AFC8-AC7C-5BE5-D48E95DC9BA4}"/>
                  </a:ext>
                </a:extLst>
              </p:cNvPr>
              <p:cNvSpPr txBox="1"/>
              <p:nvPr/>
            </p:nvSpPr>
            <p:spPr>
              <a:xfrm>
                <a:off x="667874" y="3228945"/>
                <a:ext cx="5065050" cy="400110"/>
              </a:xfrm>
              <a:prstGeom prst="rect">
                <a:avLst/>
              </a:prstGeom>
              <a:noFill/>
            </p:spPr>
            <p:txBody>
              <a:bodyPr wrap="square">
                <a:spAutoFit/>
              </a:bodyPr>
              <a:lstStyle/>
              <a:p>
                <a:endParaRPr lang="en-IN" sz="2000" b="1" dirty="0">
                  <a:solidFill>
                    <a:schemeClr val="tx1">
                      <a:lumMod val="75000"/>
                      <a:lumOff val="25000"/>
                    </a:schemeClr>
                  </a:solidFill>
                  <a:latin typeface="Montserrat" panose="00000500000000000000" pitchFamily="2" charset="0"/>
                </a:endParaRPr>
              </a:p>
            </p:txBody>
          </p:sp>
          <p:sp>
            <p:nvSpPr>
              <p:cNvPr id="56" name="TextBox 55">
                <a:extLst>
                  <a:ext uri="{FF2B5EF4-FFF2-40B4-BE49-F238E27FC236}">
                    <a16:creationId xmlns:a16="http://schemas.microsoft.com/office/drawing/2014/main" id="{A6BF0A55-E695-33C4-4C69-4765197FA58A}"/>
                  </a:ext>
                </a:extLst>
              </p:cNvPr>
              <p:cNvSpPr txBox="1"/>
              <p:nvPr/>
            </p:nvSpPr>
            <p:spPr>
              <a:xfrm>
                <a:off x="667874" y="3629055"/>
                <a:ext cx="4563619" cy="460960"/>
              </a:xfrm>
              <a:prstGeom prst="rect">
                <a:avLst/>
              </a:prstGeom>
              <a:noFill/>
            </p:spPr>
            <p:txBody>
              <a:bodyPr wrap="square">
                <a:spAutoFit/>
              </a:bodyPr>
              <a:lstStyle/>
              <a:p>
                <a:pPr>
                  <a:lnSpc>
                    <a:spcPct val="150000"/>
                  </a:lnSpc>
                </a:pPr>
                <a:endParaRPr lang="en-IN" sz="1800" dirty="0">
                  <a:solidFill>
                    <a:schemeClr val="tx1">
                      <a:lumMod val="75000"/>
                      <a:lumOff val="25000"/>
                    </a:schemeClr>
                  </a:solidFill>
                  <a:latin typeface="Montserrat" panose="00000500000000000000" pitchFamily="2" charset="0"/>
                </a:endParaRPr>
              </a:p>
            </p:txBody>
          </p:sp>
        </p:grpSp>
      </p:grpSp>
      <p:pic>
        <p:nvPicPr>
          <p:cNvPr id="3" name="Picture 2" descr="upload.wikimedia.org/wikipedia/commons/thumb/a/...">
            <a:extLst>
              <a:ext uri="{FF2B5EF4-FFF2-40B4-BE49-F238E27FC236}">
                <a16:creationId xmlns:a16="http://schemas.microsoft.com/office/drawing/2014/main" id="{306AA36D-EE91-A225-27AD-48D581F3E2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8434" y="302812"/>
            <a:ext cx="1120944" cy="338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4992973"/>
      </p:ext>
    </p:extLst>
  </p:cSld>
  <p:clrMapOvr>
    <a:masterClrMapping/>
  </p:clrMapOvr>
</p:sld>
</file>

<file path=ppt/theme/theme1.xml><?xml version="1.0" encoding="utf-8"?>
<a:theme xmlns:a="http://schemas.openxmlformats.org/drawingml/2006/main" name="Office Theme">
  <a:themeElements>
    <a:clrScheme name="Custom 67">
      <a:dk1>
        <a:srgbClr val="000000"/>
      </a:dk1>
      <a:lt1>
        <a:srgbClr val="FFFFFF"/>
      </a:lt1>
      <a:dk2>
        <a:srgbClr val="FFB900"/>
      </a:dk2>
      <a:lt2>
        <a:srgbClr val="FF8F15"/>
      </a:lt2>
      <a:accent1>
        <a:srgbClr val="FF435C"/>
      </a:accent1>
      <a:accent2>
        <a:srgbClr val="00BC7E"/>
      </a:accent2>
      <a:accent3>
        <a:srgbClr val="00AAC0"/>
      </a:accent3>
      <a:accent4>
        <a:srgbClr val="006686"/>
      </a:accent4>
      <a:accent5>
        <a:srgbClr val="FFFFFF"/>
      </a:accent5>
      <a:accent6>
        <a:srgbClr val="FFFFFF"/>
      </a:accent6>
      <a:hlink>
        <a:srgbClr val="88BEAF"/>
      </a:hlink>
      <a:folHlink>
        <a:srgbClr val="0097A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755</TotalTime>
  <Words>1062</Words>
  <Application>Microsoft Office PowerPoint</Application>
  <PresentationFormat>Widescreen</PresentationFormat>
  <Paragraphs>90</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Meiryo</vt:lpstr>
      <vt:lpstr>Arial</vt:lpstr>
      <vt:lpstr>Calibri</vt:lpstr>
      <vt:lpstr>Calibri Light</vt:lpstr>
      <vt:lpstr>Montserrat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SlideEgg</dc:creator>
  <cp:lastModifiedBy>Nkem Iwuajoku</cp:lastModifiedBy>
  <cp:revision>17</cp:revision>
  <dcterms:created xsi:type="dcterms:W3CDTF">2023-07-14T07:07:33Z</dcterms:created>
  <dcterms:modified xsi:type="dcterms:W3CDTF">2025-06-23T01:32:12Z</dcterms:modified>
</cp:coreProperties>
</file>